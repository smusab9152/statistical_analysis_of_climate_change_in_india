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Gill Sans"/>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yOUZBsOMWEAMk/pHtbjBf5lQV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GillSans-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GillSans-bold.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0693b6e602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0693b6e60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0693b6e602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0693b6e60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0693b6e60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0693b6e60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0676e1766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0676e176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11" name="Shape 11"/>
        <p:cNvGrpSpPr/>
        <p:nvPr/>
      </p:nvGrpSpPr>
      <p:grpSpPr>
        <a:xfrm>
          <a:off x="0" y="0"/>
          <a:ext cx="0" cy="0"/>
          <a:chOff x="0" y="0"/>
          <a:chExt cx="0" cy="0"/>
        </a:xfrm>
      </p:grpSpPr>
      <p:sp>
        <p:nvSpPr>
          <p:cNvPr id="12" name="Google Shape;12;p23"/>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3"/>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14" name="Google Shape;14;p2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3"/>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24"/>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4"/>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26" name="Google Shape;26;p24"/>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4"/>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4"/>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9" name="Shape 29"/>
        <p:cNvGrpSpPr/>
        <p:nvPr/>
      </p:nvGrpSpPr>
      <p:grpSpPr>
        <a:xfrm>
          <a:off x="0" y="0"/>
          <a:ext cx="0" cy="0"/>
          <a:chOff x="0" y="0"/>
          <a:chExt cx="0" cy="0"/>
        </a:xfrm>
      </p:grpSpPr>
      <p:sp>
        <p:nvSpPr>
          <p:cNvPr id="30" name="Google Shape;30;p25"/>
          <p:cNvSpPr/>
          <p:nvPr/>
        </p:nvSpPr>
        <p:spPr>
          <a:xfrm>
            <a:off x="0" y="0"/>
            <a:ext cx="6096000"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5"/>
          <p:cNvSpPr txBox="1"/>
          <p:nvPr>
            <p:ph type="title"/>
          </p:nvPr>
        </p:nvSpPr>
        <p:spPr>
          <a:xfrm>
            <a:off x="804672" y="2243828"/>
            <a:ext cx="4486656"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5"/>
          <p:cNvSpPr txBox="1"/>
          <p:nvPr>
            <p:ph idx="1" type="body"/>
          </p:nvPr>
        </p:nvSpPr>
        <p:spPr>
          <a:xfrm>
            <a:off x="6736080" y="804672"/>
            <a:ext cx="4815840" cy="5248656"/>
          </a:xfrm>
          <a:prstGeom prst="rect">
            <a:avLst/>
          </a:prstGeom>
          <a:noFill/>
          <a:ln>
            <a:noFill/>
          </a:ln>
        </p:spPr>
        <p:txBody>
          <a:bodyPr anchorCtr="0" anchor="t" bIns="45700" lIns="91425" spcFirstLastPara="1" rIns="91425" wrap="square" tIns="45700">
            <a:normAutofit/>
          </a:bodyPr>
          <a:lstStyle>
            <a:lvl1pPr indent="-349250" lvl="0" marL="457200" algn="l">
              <a:lnSpc>
                <a:spcPct val="100000"/>
              </a:lnSpc>
              <a:spcBef>
                <a:spcPts val="1000"/>
              </a:spcBef>
              <a:spcAft>
                <a:spcPts val="0"/>
              </a:spcAft>
              <a:buSzPts val="1900"/>
              <a:buChar char="•"/>
              <a:defRPr sz="1900">
                <a:solidFill>
                  <a:schemeClr val="dk1"/>
                </a:solidFill>
              </a:defRPr>
            </a:lvl1pPr>
            <a:lvl2pPr indent="-330200" lvl="1" marL="914400" algn="l">
              <a:lnSpc>
                <a:spcPct val="100000"/>
              </a:lnSpc>
              <a:spcBef>
                <a:spcPts val="1000"/>
              </a:spcBef>
              <a:spcAft>
                <a:spcPts val="0"/>
              </a:spcAft>
              <a:buSzPts val="1600"/>
              <a:buChar char="•"/>
              <a:defRPr sz="1600">
                <a:solidFill>
                  <a:schemeClr val="dk1"/>
                </a:solidFill>
              </a:defRPr>
            </a:lvl2pPr>
            <a:lvl3pPr indent="-330200" lvl="2" marL="1371600" algn="l">
              <a:lnSpc>
                <a:spcPct val="100000"/>
              </a:lnSpc>
              <a:spcBef>
                <a:spcPts val="1000"/>
              </a:spcBef>
              <a:spcAft>
                <a:spcPts val="0"/>
              </a:spcAft>
              <a:buSzPts val="1600"/>
              <a:buChar char="•"/>
              <a:defRPr sz="1600">
                <a:solidFill>
                  <a:schemeClr val="dk1"/>
                </a:solidFill>
              </a:defRPr>
            </a:lvl3pPr>
            <a:lvl4pPr indent="-330200" lvl="3" marL="1828800" algn="l">
              <a:lnSpc>
                <a:spcPct val="100000"/>
              </a:lnSpc>
              <a:spcBef>
                <a:spcPts val="1000"/>
              </a:spcBef>
              <a:spcAft>
                <a:spcPts val="0"/>
              </a:spcAft>
              <a:buSzPts val="1600"/>
              <a:buChar char="•"/>
              <a:defRPr sz="1600">
                <a:solidFill>
                  <a:schemeClr val="dk1"/>
                </a:solidFill>
              </a:defRPr>
            </a:lvl4pPr>
            <a:lvl5pPr indent="-330200" lvl="4" marL="2286000" algn="l">
              <a:lnSpc>
                <a:spcPct val="100000"/>
              </a:lnSpc>
              <a:spcBef>
                <a:spcPts val="1000"/>
              </a:spcBef>
              <a:spcAft>
                <a:spcPts val="0"/>
              </a:spcAft>
              <a:buSzPts val="1600"/>
              <a:buChar char="•"/>
              <a:defRPr sz="1600">
                <a:solidFill>
                  <a:schemeClr val="dk1"/>
                </a:solidFill>
              </a:defRPr>
            </a:lvl5pPr>
            <a:lvl6pPr indent="-330200" lvl="5" marL="2743200" algn="l">
              <a:lnSpc>
                <a:spcPct val="100000"/>
              </a:lnSpc>
              <a:spcBef>
                <a:spcPts val="1000"/>
              </a:spcBef>
              <a:spcAft>
                <a:spcPts val="0"/>
              </a:spcAft>
              <a:buSzPts val="1600"/>
              <a:buChar char="•"/>
              <a:defRPr sz="1600"/>
            </a:lvl6pPr>
            <a:lvl7pPr indent="-330200" lvl="6" marL="3200400" algn="l">
              <a:lnSpc>
                <a:spcPct val="100000"/>
              </a:lnSpc>
              <a:spcBef>
                <a:spcPts val="1000"/>
              </a:spcBef>
              <a:spcAft>
                <a:spcPts val="0"/>
              </a:spcAft>
              <a:buSzPts val="1600"/>
              <a:buChar char="•"/>
              <a:defRPr sz="1600"/>
            </a:lvl7pPr>
            <a:lvl8pPr indent="-330200" lvl="7" marL="3657600" algn="l">
              <a:lnSpc>
                <a:spcPct val="100000"/>
              </a:lnSpc>
              <a:spcBef>
                <a:spcPts val="1000"/>
              </a:spcBef>
              <a:spcAft>
                <a:spcPts val="0"/>
              </a:spcAft>
              <a:buSzPts val="1600"/>
              <a:buChar char="•"/>
              <a:defRPr sz="1600"/>
            </a:lvl8pPr>
            <a:lvl9pPr indent="-330200" lvl="8" marL="4114800" algn="l">
              <a:lnSpc>
                <a:spcPct val="100000"/>
              </a:lnSpc>
              <a:spcBef>
                <a:spcPts val="1000"/>
              </a:spcBef>
              <a:spcAft>
                <a:spcPts val="0"/>
              </a:spcAft>
              <a:buSzPts val="1600"/>
              <a:buChar char="•"/>
              <a:defRPr sz="1600"/>
            </a:lvl9pPr>
          </a:lstStyle>
          <a:p/>
        </p:txBody>
      </p:sp>
      <p:sp>
        <p:nvSpPr>
          <p:cNvPr id="33" name="Google Shape;33;p25"/>
          <p:cNvSpPr txBox="1"/>
          <p:nvPr>
            <p:ph idx="2" type="body"/>
          </p:nvPr>
        </p:nvSpPr>
        <p:spPr>
          <a:xfrm>
            <a:off x="1115568" y="3549918"/>
            <a:ext cx="3794760" cy="2194036"/>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34" name="Google Shape;34;p25"/>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5"/>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5"/>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26"/>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6"/>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6"/>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6"/>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 name="Shape 42"/>
        <p:cNvGrpSpPr/>
        <p:nvPr/>
      </p:nvGrpSpPr>
      <p:grpSpPr>
        <a:xfrm>
          <a:off x="0" y="0"/>
          <a:ext cx="0" cy="0"/>
          <a:chOff x="0" y="0"/>
          <a:chExt cx="0" cy="0"/>
        </a:xfrm>
      </p:grpSpPr>
      <p:sp>
        <p:nvSpPr>
          <p:cNvPr id="43" name="Google Shape;43;p27"/>
          <p:cNvSpPr/>
          <p:nvPr/>
        </p:nvSpPr>
        <p:spPr>
          <a:xfrm>
            <a:off x="0" y="0"/>
            <a:ext cx="6095999" cy="6858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7"/>
          <p:cNvSpPr txBox="1"/>
          <p:nvPr>
            <p:ph type="title"/>
          </p:nvPr>
        </p:nvSpPr>
        <p:spPr>
          <a:xfrm>
            <a:off x="808523" y="2243828"/>
            <a:ext cx="4494998"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2200"/>
              <a:buFont typeface="Gill Sans"/>
              <a:buNone/>
              <a:defRPr sz="22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7"/>
          <p:cNvSpPr/>
          <p:nvPr>
            <p:ph idx="2" type="pic"/>
          </p:nvPr>
        </p:nvSpPr>
        <p:spPr>
          <a:xfrm>
            <a:off x="6095999" y="0"/>
            <a:ext cx="6102097" cy="6858000"/>
          </a:xfrm>
          <a:prstGeom prst="rect">
            <a:avLst/>
          </a:prstGeom>
          <a:solidFill>
            <a:srgbClr val="BFBFBF"/>
          </a:solidFill>
          <a:ln>
            <a:noFill/>
          </a:ln>
        </p:spPr>
      </p:sp>
      <p:sp>
        <p:nvSpPr>
          <p:cNvPr id="46" name="Google Shape;46;p27"/>
          <p:cNvSpPr txBox="1"/>
          <p:nvPr>
            <p:ph idx="1" type="body"/>
          </p:nvPr>
        </p:nvSpPr>
        <p:spPr>
          <a:xfrm>
            <a:off x="1115568" y="3549918"/>
            <a:ext cx="3794760" cy="219403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1000"/>
              </a:spcBef>
              <a:spcAft>
                <a:spcPts val="0"/>
              </a:spcAft>
              <a:buSzPts val="1500"/>
              <a:buNone/>
              <a:defRPr sz="1500">
                <a:solidFill>
                  <a:srgbClr val="FFFFFF"/>
                </a:solidFill>
              </a:defRPr>
            </a:lvl1pPr>
            <a:lvl2pPr indent="-228600" lvl="1" marL="914400" algn="l">
              <a:lnSpc>
                <a:spcPct val="100000"/>
              </a:lnSpc>
              <a:spcBef>
                <a:spcPts val="1000"/>
              </a:spcBef>
              <a:spcAft>
                <a:spcPts val="0"/>
              </a:spcAft>
              <a:buSzPts val="1400"/>
              <a:buNone/>
              <a:defRPr sz="1400"/>
            </a:lvl2pPr>
            <a:lvl3pPr indent="-228600" lvl="2" marL="1371600" algn="l">
              <a:lnSpc>
                <a:spcPct val="100000"/>
              </a:lnSpc>
              <a:spcBef>
                <a:spcPts val="1000"/>
              </a:spcBef>
              <a:spcAft>
                <a:spcPts val="0"/>
              </a:spcAft>
              <a:buSzPts val="1200"/>
              <a:buNone/>
              <a:defRPr sz="1200"/>
            </a:lvl3pPr>
            <a:lvl4pPr indent="-228600" lvl="3" marL="1828800" algn="l">
              <a:lnSpc>
                <a:spcPct val="100000"/>
              </a:lnSpc>
              <a:spcBef>
                <a:spcPts val="1000"/>
              </a:spcBef>
              <a:spcAft>
                <a:spcPts val="0"/>
              </a:spcAft>
              <a:buSzPts val="1000"/>
              <a:buNone/>
              <a:defRPr sz="1000"/>
            </a:lvl4pPr>
            <a:lvl5pPr indent="-228600" lvl="4" marL="2286000" algn="l">
              <a:lnSpc>
                <a:spcPct val="100000"/>
              </a:lnSpc>
              <a:spcBef>
                <a:spcPts val="1000"/>
              </a:spcBef>
              <a:spcAft>
                <a:spcPts val="0"/>
              </a:spcAft>
              <a:buSzPts val="1000"/>
              <a:buNone/>
              <a:defRPr sz="1000"/>
            </a:lvl5pPr>
            <a:lvl6pPr indent="-228600" lvl="5" marL="2743200" algn="l">
              <a:lnSpc>
                <a:spcPct val="100000"/>
              </a:lnSpc>
              <a:spcBef>
                <a:spcPts val="1000"/>
              </a:spcBef>
              <a:spcAft>
                <a:spcPts val="0"/>
              </a:spcAft>
              <a:buSzPts val="1000"/>
              <a:buNone/>
              <a:defRPr sz="1000"/>
            </a:lvl6pPr>
            <a:lvl7pPr indent="-228600" lvl="6" marL="3200400" algn="l">
              <a:lnSpc>
                <a:spcPct val="100000"/>
              </a:lnSpc>
              <a:spcBef>
                <a:spcPts val="1000"/>
              </a:spcBef>
              <a:spcAft>
                <a:spcPts val="0"/>
              </a:spcAft>
              <a:buSzPts val="1000"/>
              <a:buNone/>
              <a:defRPr sz="1000"/>
            </a:lvl7pPr>
            <a:lvl8pPr indent="-228600" lvl="7" marL="3657600" algn="l">
              <a:lnSpc>
                <a:spcPct val="100000"/>
              </a:lnSpc>
              <a:spcBef>
                <a:spcPts val="1000"/>
              </a:spcBef>
              <a:spcAft>
                <a:spcPts val="0"/>
              </a:spcAft>
              <a:buSzPts val="1000"/>
              <a:buNone/>
              <a:defRPr sz="1000"/>
            </a:lvl8pPr>
            <a:lvl9pPr indent="-228600" lvl="8" marL="4114800" algn="l">
              <a:lnSpc>
                <a:spcPct val="100000"/>
              </a:lnSpc>
              <a:spcBef>
                <a:spcPts val="1000"/>
              </a:spcBef>
              <a:spcAft>
                <a:spcPts val="0"/>
              </a:spcAft>
              <a:buSzPts val="1000"/>
              <a:buNone/>
              <a:defRPr sz="1000"/>
            </a:lvl9pPr>
          </a:lstStyle>
          <a:p/>
        </p:txBody>
      </p:sp>
      <p:sp>
        <p:nvSpPr>
          <p:cNvPr id="47" name="Google Shape;47;p27"/>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1" type="ftr"/>
          </p:nvPr>
        </p:nvSpPr>
        <p:spPr>
          <a:xfrm>
            <a:off x="804672" y="6236208"/>
            <a:ext cx="5124797"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8"/>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8"/>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2"/>
        </a:solidFill>
      </p:bgPr>
    </p:bg>
    <p:spTree>
      <p:nvGrpSpPr>
        <p:cNvPr id="54" name="Shape 54"/>
        <p:cNvGrpSpPr/>
        <p:nvPr/>
      </p:nvGrpSpPr>
      <p:grpSpPr>
        <a:xfrm>
          <a:off x="0" y="0"/>
          <a:ext cx="0" cy="0"/>
          <a:chOff x="0" y="0"/>
          <a:chExt cx="0" cy="0"/>
        </a:xfrm>
      </p:grpSpPr>
      <p:sp>
        <p:nvSpPr>
          <p:cNvPr id="55" name="Google Shape;55;p22"/>
          <p:cNvSpPr txBox="1"/>
          <p:nvPr>
            <p:ph type="ctr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subTitle"/>
          </p:nvPr>
        </p:nvSpPr>
        <p:spPr>
          <a:xfrm>
            <a:off x="2695194" y="4352544"/>
            <a:ext cx="6801612" cy="1239894"/>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1000"/>
              </a:spcBef>
              <a:spcAft>
                <a:spcPts val="0"/>
              </a:spcAft>
              <a:buSzPts val="2000"/>
              <a:buNone/>
              <a:defRPr sz="2000">
                <a:solidFill>
                  <a:srgbClr val="FEFEFE"/>
                </a:solidFill>
              </a:defRPr>
            </a:lvl1pPr>
            <a:lvl2pPr lvl="1" algn="ctr">
              <a:lnSpc>
                <a:spcPct val="100000"/>
              </a:lnSpc>
              <a:spcBef>
                <a:spcPts val="1000"/>
              </a:spcBef>
              <a:spcAft>
                <a:spcPts val="0"/>
              </a:spcAft>
              <a:buSzPts val="2000"/>
              <a:buNone/>
              <a:defRPr sz="2000"/>
            </a:lvl2pPr>
            <a:lvl3pPr lvl="2" algn="ctr">
              <a:lnSpc>
                <a:spcPct val="100000"/>
              </a:lnSpc>
              <a:spcBef>
                <a:spcPts val="1000"/>
              </a:spcBef>
              <a:spcAft>
                <a:spcPts val="0"/>
              </a:spcAft>
              <a:buSzPts val="1800"/>
              <a:buNone/>
              <a:defRPr sz="1800"/>
            </a:lvl3pPr>
            <a:lvl4pPr lvl="3" algn="ctr">
              <a:lnSpc>
                <a:spcPct val="100000"/>
              </a:lnSpc>
              <a:spcBef>
                <a:spcPts val="1000"/>
              </a:spcBef>
              <a:spcAft>
                <a:spcPts val="0"/>
              </a:spcAft>
              <a:buSzPts val="1600"/>
              <a:buNone/>
              <a:defRPr sz="1600"/>
            </a:lvl4pPr>
            <a:lvl5pPr lvl="4" algn="ctr">
              <a:lnSpc>
                <a:spcPct val="100000"/>
              </a:lnSpc>
              <a:spcBef>
                <a:spcPts val="1000"/>
              </a:spcBef>
              <a:spcAft>
                <a:spcPts val="0"/>
              </a:spcAft>
              <a:buSzPts val="1600"/>
              <a:buNone/>
              <a:defRPr sz="1600"/>
            </a:lvl5pPr>
            <a:lvl6pPr lvl="5" algn="ctr">
              <a:lnSpc>
                <a:spcPct val="100000"/>
              </a:lnSpc>
              <a:spcBef>
                <a:spcPts val="1000"/>
              </a:spcBef>
              <a:spcAft>
                <a:spcPts val="0"/>
              </a:spcAft>
              <a:buSzPts val="1600"/>
              <a:buNone/>
              <a:defRPr sz="1600"/>
            </a:lvl6pPr>
            <a:lvl7pPr lvl="6" algn="ctr">
              <a:lnSpc>
                <a:spcPct val="100000"/>
              </a:lnSpc>
              <a:spcBef>
                <a:spcPts val="1000"/>
              </a:spcBef>
              <a:spcAft>
                <a:spcPts val="0"/>
              </a:spcAft>
              <a:buSzPts val="1600"/>
              <a:buNone/>
              <a:defRPr sz="1600"/>
            </a:lvl7pPr>
            <a:lvl8pPr lvl="7" algn="ctr">
              <a:lnSpc>
                <a:spcPct val="100000"/>
              </a:lnSpc>
              <a:spcBef>
                <a:spcPts val="1000"/>
              </a:spcBef>
              <a:spcAft>
                <a:spcPts val="0"/>
              </a:spcAft>
              <a:buSzPts val="1600"/>
              <a:buNone/>
              <a:defRPr sz="1600"/>
            </a:lvl8pPr>
            <a:lvl9pPr lvl="8" algn="ctr">
              <a:lnSpc>
                <a:spcPct val="100000"/>
              </a:lnSpc>
              <a:spcBef>
                <a:spcPts val="1000"/>
              </a:spcBef>
              <a:spcAft>
                <a:spcPts val="0"/>
              </a:spcAft>
              <a:buSzPts val="1600"/>
              <a:buNone/>
              <a:defRPr sz="1600"/>
            </a:lvl9pPr>
          </a:lstStyle>
          <a:p/>
        </p:txBody>
      </p:sp>
      <p:sp>
        <p:nvSpPr>
          <p:cNvPr id="57" name="Google Shape;57;p2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60" name="Shape 60"/>
        <p:cNvGrpSpPr/>
        <p:nvPr/>
      </p:nvGrpSpPr>
      <p:grpSpPr>
        <a:xfrm>
          <a:off x="0" y="0"/>
          <a:ext cx="0" cy="0"/>
          <a:chOff x="0" y="0"/>
          <a:chExt cx="0" cy="0"/>
        </a:xfrm>
      </p:grpSpPr>
      <p:sp>
        <p:nvSpPr>
          <p:cNvPr id="61" name="Google Shape;61;p29"/>
          <p:cNvSpPr txBox="1"/>
          <p:nvPr>
            <p:ph type="title"/>
          </p:nvPr>
        </p:nvSpPr>
        <p:spPr>
          <a:xfrm>
            <a:off x="1600200" y="2386744"/>
            <a:ext cx="8991600" cy="164592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3800"/>
              <a:buFont typeface="Gill Sans"/>
              <a:buNone/>
              <a:defRPr sz="38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9"/>
          <p:cNvSpPr txBox="1"/>
          <p:nvPr>
            <p:ph idx="1" type="body"/>
          </p:nvPr>
        </p:nvSpPr>
        <p:spPr>
          <a:xfrm>
            <a:off x="2695194" y="4352465"/>
            <a:ext cx="6801612" cy="126508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chemeClr val="lt1"/>
                </a:solidFill>
              </a:defRPr>
            </a:lvl1pPr>
            <a:lvl2pPr indent="-228600" lvl="1" marL="914400" algn="l">
              <a:lnSpc>
                <a:spcPct val="100000"/>
              </a:lnSpc>
              <a:spcBef>
                <a:spcPts val="1000"/>
              </a:spcBef>
              <a:spcAft>
                <a:spcPts val="0"/>
              </a:spcAft>
              <a:buSzPts val="2000"/>
              <a:buNone/>
              <a:defRPr sz="2000">
                <a:solidFill>
                  <a:schemeClr val="lt1"/>
                </a:solidFill>
              </a:defRPr>
            </a:lvl2pPr>
            <a:lvl3pPr indent="-228600" lvl="2" marL="1371600" algn="l">
              <a:lnSpc>
                <a:spcPct val="100000"/>
              </a:lnSpc>
              <a:spcBef>
                <a:spcPts val="1000"/>
              </a:spcBef>
              <a:spcAft>
                <a:spcPts val="0"/>
              </a:spcAft>
              <a:buSzPts val="1800"/>
              <a:buNone/>
              <a:defRPr sz="1800">
                <a:solidFill>
                  <a:schemeClr val="lt1"/>
                </a:solidFill>
              </a:defRPr>
            </a:lvl3pPr>
            <a:lvl4pPr indent="-228600" lvl="3" marL="1828800" algn="l">
              <a:lnSpc>
                <a:spcPct val="100000"/>
              </a:lnSpc>
              <a:spcBef>
                <a:spcPts val="1000"/>
              </a:spcBef>
              <a:spcAft>
                <a:spcPts val="0"/>
              </a:spcAft>
              <a:buSzPts val="1600"/>
              <a:buNone/>
              <a:defRPr sz="1600">
                <a:solidFill>
                  <a:schemeClr val="lt1"/>
                </a:solidFill>
              </a:defRPr>
            </a:lvl4pPr>
            <a:lvl5pPr indent="-228600" lvl="4" marL="2286000" algn="l">
              <a:lnSpc>
                <a:spcPct val="100000"/>
              </a:lnSpc>
              <a:spcBef>
                <a:spcPts val="1000"/>
              </a:spcBef>
              <a:spcAft>
                <a:spcPts val="0"/>
              </a:spcAft>
              <a:buSzPts val="1600"/>
              <a:buNone/>
              <a:defRPr sz="1600">
                <a:solidFill>
                  <a:schemeClr val="lt1"/>
                </a:solidFill>
              </a:defRPr>
            </a:lvl5pPr>
            <a:lvl6pPr indent="-228600" lvl="5" marL="2743200" algn="l">
              <a:lnSpc>
                <a:spcPct val="100000"/>
              </a:lnSpc>
              <a:spcBef>
                <a:spcPts val="1000"/>
              </a:spcBef>
              <a:spcAft>
                <a:spcPts val="0"/>
              </a:spcAft>
              <a:buSzPts val="1600"/>
              <a:buNone/>
              <a:defRPr sz="1600">
                <a:solidFill>
                  <a:schemeClr val="lt1"/>
                </a:solidFill>
              </a:defRPr>
            </a:lvl6pPr>
            <a:lvl7pPr indent="-228600" lvl="6" marL="3200400" algn="l">
              <a:lnSpc>
                <a:spcPct val="100000"/>
              </a:lnSpc>
              <a:spcBef>
                <a:spcPts val="1000"/>
              </a:spcBef>
              <a:spcAft>
                <a:spcPts val="0"/>
              </a:spcAft>
              <a:buSzPts val="1600"/>
              <a:buNone/>
              <a:defRPr sz="1600">
                <a:solidFill>
                  <a:schemeClr val="lt1"/>
                </a:solidFill>
              </a:defRPr>
            </a:lvl7pPr>
            <a:lvl8pPr indent="-228600" lvl="7" marL="3657600" algn="l">
              <a:lnSpc>
                <a:spcPct val="100000"/>
              </a:lnSpc>
              <a:spcBef>
                <a:spcPts val="1000"/>
              </a:spcBef>
              <a:spcAft>
                <a:spcPts val="0"/>
              </a:spcAft>
              <a:buSzPts val="1600"/>
              <a:buNone/>
              <a:defRPr sz="1600">
                <a:solidFill>
                  <a:schemeClr val="lt1"/>
                </a:solidFill>
              </a:defRPr>
            </a:lvl8pPr>
            <a:lvl9pPr indent="-228600" lvl="8" marL="4114800" algn="l">
              <a:lnSpc>
                <a:spcPct val="100000"/>
              </a:lnSpc>
              <a:spcBef>
                <a:spcPts val="1000"/>
              </a:spcBef>
              <a:spcAft>
                <a:spcPts val="0"/>
              </a:spcAft>
              <a:buSzPts val="1600"/>
              <a:buNone/>
              <a:defRPr sz="1600">
                <a:solidFill>
                  <a:schemeClr val="lt1"/>
                </a:solidFill>
              </a:defRPr>
            </a:lvl9pPr>
          </a:lstStyle>
          <a:p/>
        </p:txBody>
      </p:sp>
      <p:sp>
        <p:nvSpPr>
          <p:cNvPr id="63" name="Google Shape;63;p29"/>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9"/>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9"/>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6" name="Shape 66"/>
        <p:cNvGrpSpPr/>
        <p:nvPr/>
      </p:nvGrpSpPr>
      <p:grpSpPr>
        <a:xfrm>
          <a:off x="0" y="0"/>
          <a:ext cx="0" cy="0"/>
          <a:chOff x="0" y="0"/>
          <a:chExt cx="0" cy="0"/>
        </a:xfrm>
      </p:grpSpPr>
      <p:sp>
        <p:nvSpPr>
          <p:cNvPr id="67" name="Google Shape;67;p30"/>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0"/>
          <p:cNvSpPr txBox="1"/>
          <p:nvPr>
            <p:ph idx="1" type="body"/>
          </p:nvPr>
        </p:nvSpPr>
        <p:spPr>
          <a:xfrm>
            <a:off x="1581912" y="2638044"/>
            <a:ext cx="4271771"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69" name="Google Shape;69;p30"/>
          <p:cNvSpPr txBox="1"/>
          <p:nvPr>
            <p:ph idx="2" type="body"/>
          </p:nvPr>
        </p:nvSpPr>
        <p:spPr>
          <a:xfrm>
            <a:off x="6338315" y="2638044"/>
            <a:ext cx="4270247" cy="31019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70" name="Google Shape;70;p3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0"/>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3" name="Shape 73"/>
        <p:cNvGrpSpPr/>
        <p:nvPr/>
      </p:nvGrpSpPr>
      <p:grpSpPr>
        <a:xfrm>
          <a:off x="0" y="0"/>
          <a:ext cx="0" cy="0"/>
          <a:chOff x="0" y="0"/>
          <a:chExt cx="0" cy="0"/>
        </a:xfrm>
      </p:grpSpPr>
      <p:sp>
        <p:nvSpPr>
          <p:cNvPr id="74" name="Google Shape;74;p31"/>
          <p:cNvSpPr txBox="1"/>
          <p:nvPr>
            <p:ph idx="1" type="body"/>
          </p:nvPr>
        </p:nvSpPr>
        <p:spPr>
          <a:xfrm>
            <a:off x="158343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75" name="Google Shape;75;p31"/>
          <p:cNvSpPr txBox="1"/>
          <p:nvPr>
            <p:ph idx="2" type="body"/>
          </p:nvPr>
        </p:nvSpPr>
        <p:spPr>
          <a:xfrm>
            <a:off x="1583436" y="3143250"/>
            <a:ext cx="4270248"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76" name="Google Shape;76;p31"/>
          <p:cNvSpPr txBox="1"/>
          <p:nvPr>
            <p:ph idx="3" type="body"/>
          </p:nvPr>
        </p:nvSpPr>
        <p:spPr>
          <a:xfrm>
            <a:off x="6338316" y="3143250"/>
            <a:ext cx="4253484" cy="259677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30200" lvl="4" marL="2286000" algn="l">
              <a:lnSpc>
                <a:spcPct val="100000"/>
              </a:lnSpc>
              <a:spcBef>
                <a:spcPts val="1000"/>
              </a:spcBef>
              <a:spcAft>
                <a:spcPts val="0"/>
              </a:spcAft>
              <a:buSzPts val="16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77" name="Google Shape;77;p31"/>
          <p:cNvSpPr txBox="1"/>
          <p:nvPr>
            <p:ph idx="4" type="body"/>
          </p:nvPr>
        </p:nvSpPr>
        <p:spPr>
          <a:xfrm>
            <a:off x="6338316" y="2313433"/>
            <a:ext cx="4270248" cy="704087"/>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1000"/>
              </a:spcBef>
              <a:spcAft>
                <a:spcPts val="0"/>
              </a:spcAft>
              <a:buSzPts val="1900"/>
              <a:buNone/>
              <a:defRPr b="0" sz="1900" cap="none">
                <a:solidFill>
                  <a:srgbClr val="6B8890"/>
                </a:solidFill>
              </a:defRPr>
            </a:lvl1pPr>
            <a:lvl2pPr indent="-228600" lvl="1" marL="914400" algn="l">
              <a:lnSpc>
                <a:spcPct val="100000"/>
              </a:lnSpc>
              <a:spcBef>
                <a:spcPts val="1000"/>
              </a:spcBef>
              <a:spcAft>
                <a:spcPts val="0"/>
              </a:spcAft>
              <a:buSzPts val="1900"/>
              <a:buNone/>
              <a:defRPr b="1" sz="19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78" name="Google Shape;78;p3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1"/>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1" name="Google Shape;81;p31"/>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2" name="Shape 82"/>
        <p:cNvGrpSpPr/>
        <p:nvPr/>
      </p:nvGrpSpPr>
      <p:grpSpPr>
        <a:xfrm>
          <a:off x="0" y="0"/>
          <a:ext cx="0" cy="0"/>
          <a:chOff x="0" y="0"/>
          <a:chExt cx="0" cy="0"/>
        </a:xfrm>
      </p:grpSpPr>
      <p:sp>
        <p:nvSpPr>
          <p:cNvPr id="83" name="Google Shape;83;p32"/>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2"/>
          <p:cNvSpPr txBox="1"/>
          <p:nvPr>
            <p:ph idx="1" type="body"/>
          </p:nvPr>
        </p:nvSpPr>
        <p:spPr>
          <a:xfrm rot="5400000">
            <a:off x="4545009" y="324172"/>
            <a:ext cx="3101983" cy="772972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85" name="Google Shape;85;p32"/>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2"/>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2"/>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33"/>
          <p:cNvSpPr txBox="1"/>
          <p:nvPr>
            <p:ph type="title"/>
          </p:nvPr>
        </p:nvSpPr>
        <p:spPr>
          <a:xfrm rot="5400000">
            <a:off x="6810676" y="2779696"/>
            <a:ext cx="4983480" cy="129860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33"/>
          <p:cNvSpPr txBox="1"/>
          <p:nvPr>
            <p:ph idx="1" type="body"/>
          </p:nvPr>
        </p:nvSpPr>
        <p:spPr>
          <a:xfrm rot="5400000">
            <a:off x="2838641" y="329756"/>
            <a:ext cx="4983480" cy="619848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1" name="Google Shape;91;p33"/>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3"/>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3"/>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1"/>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FEFEFE"/>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FEFEFE"/>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lt1"/>
                </a:solidFill>
                <a:latin typeface="Gill Sans"/>
                <a:ea typeface="Gill Sans"/>
                <a:cs typeface="Gill Sans"/>
                <a:sym typeface="Gill Sans"/>
              </a:defRPr>
            </a:lvl9pPr>
          </a:lstStyle>
          <a:p/>
        </p:txBody>
      </p:sp>
      <p:sp>
        <p:nvSpPr>
          <p:cNvPr id="8" name="Google Shape;8;p21"/>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9" name="Google Shape;9;p21"/>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10" name="Google Shape;10;p21"/>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rtl="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rtl="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rtl="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rtl="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rtl="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rtl="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rtl="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rtl="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7" name="Shape 17"/>
        <p:cNvGrpSpPr/>
        <p:nvPr/>
      </p:nvGrpSpPr>
      <p:grpSpPr>
        <a:xfrm>
          <a:off x="0" y="0"/>
          <a:ext cx="0" cy="0"/>
          <a:chOff x="0" y="0"/>
          <a:chExt cx="0" cy="0"/>
        </a:xfrm>
      </p:grpSpPr>
      <p:sp>
        <p:nvSpPr>
          <p:cNvPr id="18" name="Google Shape;18;p20"/>
          <p:cNvSpPr txBox="1"/>
          <p:nvPr>
            <p:ph type="title"/>
          </p:nvPr>
        </p:nvSpPr>
        <p:spPr>
          <a:xfrm>
            <a:off x="2231136" y="96469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800"/>
              <a:buFont typeface="Gill Sans"/>
              <a:buNone/>
              <a:defRPr b="0" i="0" sz="280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20"/>
          <p:cNvSpPr txBox="1"/>
          <p:nvPr>
            <p:ph idx="1" type="body"/>
          </p:nvPr>
        </p:nvSpPr>
        <p:spPr>
          <a:xfrm>
            <a:off x="2231136" y="2638044"/>
            <a:ext cx="7729728" cy="3101983"/>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2"/>
              </a:buClr>
              <a:buSzPts val="1800"/>
              <a:buFont typeface="Arial"/>
              <a:buChar char="•"/>
              <a:defRPr b="0" i="0" sz="1800" u="none" cap="none" strike="noStrike">
                <a:solidFill>
                  <a:srgbClr val="262626"/>
                </a:solidFill>
                <a:latin typeface="Gill Sans"/>
                <a:ea typeface="Gill Sans"/>
                <a:cs typeface="Gill Sans"/>
                <a:sym typeface="Gill Sans"/>
              </a:defRPr>
            </a:lvl1pPr>
            <a:lvl2pPr indent="-330200" lvl="1" marL="9144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2pPr>
            <a:lvl3pPr indent="-330200" lvl="2" marL="13716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3pPr>
            <a:lvl4pPr indent="-330200" lvl="3" marL="18288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4pPr>
            <a:lvl5pPr indent="-330200" lvl="4" marL="2286000" marR="0" rtl="0" algn="l">
              <a:lnSpc>
                <a:spcPct val="100000"/>
              </a:lnSpc>
              <a:spcBef>
                <a:spcPts val="1000"/>
              </a:spcBef>
              <a:spcAft>
                <a:spcPts val="0"/>
              </a:spcAft>
              <a:buClr>
                <a:schemeClr val="accent2"/>
              </a:buClr>
              <a:buSzPts val="1600"/>
              <a:buFont typeface="Arial"/>
              <a:buChar char="•"/>
              <a:defRPr b="0" i="0" sz="1600" u="none" cap="none" strike="noStrike">
                <a:solidFill>
                  <a:srgbClr val="262626"/>
                </a:solidFill>
                <a:latin typeface="Gill Sans"/>
                <a:ea typeface="Gill Sans"/>
                <a:cs typeface="Gill Sans"/>
                <a:sym typeface="Gill Sans"/>
              </a:defRPr>
            </a:lvl5pPr>
            <a:lvl6pPr indent="-330200" lvl="5" marL="27432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6pPr>
            <a:lvl7pPr indent="-330200" lvl="6" marL="32004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7pPr>
            <a:lvl8pPr indent="-330200" lvl="7" marL="36576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8pPr>
            <a:lvl9pPr indent="-330200" lvl="8" marL="4114800" marR="0" rtl="0" algn="l">
              <a:lnSpc>
                <a:spcPct val="100000"/>
              </a:lnSpc>
              <a:spcBef>
                <a:spcPts val="1000"/>
              </a:spcBef>
              <a:spcAft>
                <a:spcPts val="0"/>
              </a:spcAft>
              <a:buClr>
                <a:schemeClr val="accent2"/>
              </a:buClr>
              <a:buSzPts val="1600"/>
              <a:buFont typeface="Arial"/>
              <a:buChar char="•"/>
              <a:defRPr b="0" i="0" sz="1600" u="none" cap="none" strike="noStrike">
                <a:solidFill>
                  <a:schemeClr val="dk1"/>
                </a:solidFill>
                <a:latin typeface="Gill Sans"/>
                <a:ea typeface="Gill Sans"/>
                <a:cs typeface="Gill Sans"/>
                <a:sym typeface="Gill Sans"/>
              </a:defRPr>
            </a:lvl9pPr>
          </a:lstStyle>
          <a:p/>
        </p:txBody>
      </p:sp>
      <p:sp>
        <p:nvSpPr>
          <p:cNvPr id="20" name="Google Shape;20;p20"/>
          <p:cNvSpPr txBox="1"/>
          <p:nvPr>
            <p:ph idx="10" type="dt"/>
          </p:nvPr>
        </p:nvSpPr>
        <p:spPr>
          <a:xfrm>
            <a:off x="7821429" y="6238816"/>
            <a:ext cx="2753746" cy="32396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1" name="Google Shape;21;p20"/>
          <p:cNvSpPr txBox="1"/>
          <p:nvPr>
            <p:ph idx="11" type="ftr"/>
          </p:nvPr>
        </p:nvSpPr>
        <p:spPr>
          <a:xfrm>
            <a:off x="1600200" y="6236208"/>
            <a:ext cx="5901189" cy="320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22" name="Google Shape;22;p20"/>
          <p:cNvSpPr/>
          <p:nvPr>
            <p:ph idx="12" type="sldNum"/>
          </p:nvPr>
        </p:nvSpPr>
        <p:spPr>
          <a:xfrm>
            <a:off x="10758922" y="6217920"/>
            <a:ext cx="365760" cy="36576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ctr">
              <a:spcBef>
                <a:spcPts val="0"/>
              </a:spcBef>
              <a:buNone/>
              <a:defRPr b="0" i="0" sz="1100" u="none" cap="none" strike="noStrike">
                <a:solidFill>
                  <a:srgbClr val="FFFFFF"/>
                </a:solidFill>
                <a:latin typeface="Gill Sans"/>
                <a:ea typeface="Gill Sans"/>
                <a:cs typeface="Gill Sans"/>
                <a:sym typeface="Gill Sans"/>
              </a:defRPr>
            </a:lvl1pPr>
            <a:lvl2pPr indent="0" lvl="1" marL="0" marR="0" rtl="0" algn="ctr">
              <a:spcBef>
                <a:spcPts val="0"/>
              </a:spcBef>
              <a:buNone/>
              <a:defRPr b="0" i="0" sz="1100" u="none" cap="none" strike="noStrike">
                <a:solidFill>
                  <a:srgbClr val="FFFFFF"/>
                </a:solidFill>
                <a:latin typeface="Gill Sans"/>
                <a:ea typeface="Gill Sans"/>
                <a:cs typeface="Gill Sans"/>
                <a:sym typeface="Gill Sans"/>
              </a:defRPr>
            </a:lvl2pPr>
            <a:lvl3pPr indent="0" lvl="2" marL="0" marR="0" rtl="0" algn="ctr">
              <a:spcBef>
                <a:spcPts val="0"/>
              </a:spcBef>
              <a:buNone/>
              <a:defRPr b="0" i="0" sz="1100" u="none" cap="none" strike="noStrike">
                <a:solidFill>
                  <a:srgbClr val="FFFFFF"/>
                </a:solidFill>
                <a:latin typeface="Gill Sans"/>
                <a:ea typeface="Gill Sans"/>
                <a:cs typeface="Gill Sans"/>
                <a:sym typeface="Gill Sans"/>
              </a:defRPr>
            </a:lvl3pPr>
            <a:lvl4pPr indent="0" lvl="3" marL="0" marR="0" rtl="0" algn="ctr">
              <a:spcBef>
                <a:spcPts val="0"/>
              </a:spcBef>
              <a:buNone/>
              <a:defRPr b="0" i="0" sz="1100" u="none" cap="none" strike="noStrike">
                <a:solidFill>
                  <a:srgbClr val="FFFFFF"/>
                </a:solidFill>
                <a:latin typeface="Gill Sans"/>
                <a:ea typeface="Gill Sans"/>
                <a:cs typeface="Gill Sans"/>
                <a:sym typeface="Gill Sans"/>
              </a:defRPr>
            </a:lvl4pPr>
            <a:lvl5pPr indent="0" lvl="4" marL="0" marR="0" rtl="0" algn="ctr">
              <a:spcBef>
                <a:spcPts val="0"/>
              </a:spcBef>
              <a:buNone/>
              <a:defRPr b="0" i="0" sz="1100" u="none" cap="none" strike="noStrike">
                <a:solidFill>
                  <a:srgbClr val="FFFFFF"/>
                </a:solidFill>
                <a:latin typeface="Gill Sans"/>
                <a:ea typeface="Gill Sans"/>
                <a:cs typeface="Gill Sans"/>
                <a:sym typeface="Gill Sans"/>
              </a:defRPr>
            </a:lvl5pPr>
            <a:lvl6pPr indent="0" lvl="5" marL="0" marR="0" rtl="0" algn="ctr">
              <a:spcBef>
                <a:spcPts val="0"/>
              </a:spcBef>
              <a:buNone/>
              <a:defRPr b="0" i="0" sz="1100" u="none" cap="none" strike="noStrike">
                <a:solidFill>
                  <a:srgbClr val="FFFFFF"/>
                </a:solidFill>
                <a:latin typeface="Gill Sans"/>
                <a:ea typeface="Gill Sans"/>
                <a:cs typeface="Gill Sans"/>
                <a:sym typeface="Gill Sans"/>
              </a:defRPr>
            </a:lvl6pPr>
            <a:lvl7pPr indent="0" lvl="6" marL="0" marR="0" rtl="0" algn="ctr">
              <a:spcBef>
                <a:spcPts val="0"/>
              </a:spcBef>
              <a:buNone/>
              <a:defRPr b="0" i="0" sz="1100" u="none" cap="none" strike="noStrike">
                <a:solidFill>
                  <a:srgbClr val="FFFFFF"/>
                </a:solidFill>
                <a:latin typeface="Gill Sans"/>
                <a:ea typeface="Gill Sans"/>
                <a:cs typeface="Gill Sans"/>
                <a:sym typeface="Gill Sans"/>
              </a:defRPr>
            </a:lvl7pPr>
            <a:lvl8pPr indent="0" lvl="7" marL="0" marR="0" rtl="0" algn="ctr">
              <a:spcBef>
                <a:spcPts val="0"/>
              </a:spcBef>
              <a:buNone/>
              <a:defRPr b="0" i="0" sz="1100" u="none" cap="none" strike="noStrike">
                <a:solidFill>
                  <a:srgbClr val="FFFFFF"/>
                </a:solidFill>
                <a:latin typeface="Gill Sans"/>
                <a:ea typeface="Gill Sans"/>
                <a:cs typeface="Gill Sans"/>
                <a:sym typeface="Gill Sans"/>
              </a:defRPr>
            </a:lvl8pPr>
            <a:lvl9pPr indent="0" lvl="8" marL="0" marR="0" rtl="0" algn="ctr">
              <a:spcBef>
                <a:spcPts val="0"/>
              </a:spcBef>
              <a:buNone/>
              <a:defRPr b="0" i="0" sz="1100" u="none" cap="none" strike="noStrike">
                <a:solidFill>
                  <a:srgbClr val="FFFFFF"/>
                </a:solidFill>
                <a:latin typeface="Gill Sans"/>
                <a:ea typeface="Gill Sans"/>
                <a:cs typeface="Gill Sans"/>
                <a:sym typeface="Gill Sans"/>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
          <p:cNvSpPr txBox="1"/>
          <p:nvPr>
            <p:ph type="ctrTitle"/>
          </p:nvPr>
        </p:nvSpPr>
        <p:spPr>
          <a:xfrm>
            <a:off x="1600200" y="1375627"/>
            <a:ext cx="8991600" cy="2624873"/>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p>
            <a:pPr indent="0" lvl="0" marL="0" rtl="0" algn="ctr">
              <a:lnSpc>
                <a:spcPct val="90000"/>
              </a:lnSpc>
              <a:spcBef>
                <a:spcPts val="0"/>
              </a:spcBef>
              <a:spcAft>
                <a:spcPts val="0"/>
              </a:spcAft>
              <a:buClr>
                <a:srgbClr val="262626"/>
              </a:buClr>
              <a:buSzPts val="3800"/>
              <a:buFont typeface="Gill Sans"/>
              <a:buNone/>
            </a:pPr>
            <a:r>
              <a:rPr lang="en-US"/>
              <a:t>STATISTICAL ANALYSIS OF </a:t>
            </a:r>
            <a:br>
              <a:rPr lang="en-US"/>
            </a:br>
            <a:r>
              <a:rPr lang="en-US"/>
              <a:t>CLIMATE CHANGE IN INDIA</a:t>
            </a:r>
            <a:br>
              <a:rPr lang="en-US"/>
            </a:br>
            <a:r>
              <a:rPr lang="en-US" sz="2400"/>
              <a:t>(INSIGHTS FROM TEMPERATURE CHANGE DATA)</a:t>
            </a:r>
            <a:endParaRPr sz="3200"/>
          </a:p>
        </p:txBody>
      </p:sp>
      <p:sp>
        <p:nvSpPr>
          <p:cNvPr id="99" name="Google Shape;99;p1"/>
          <p:cNvSpPr txBox="1"/>
          <p:nvPr>
            <p:ph idx="1" type="subTitle"/>
          </p:nvPr>
        </p:nvSpPr>
        <p:spPr>
          <a:xfrm>
            <a:off x="237391" y="4352544"/>
            <a:ext cx="11570677" cy="1239894"/>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2400"/>
              <a:buNone/>
            </a:pPr>
            <a:r>
              <a:rPr lang="en-US" sz="2400"/>
              <a:t>Group 4:</a:t>
            </a:r>
            <a:endParaRPr/>
          </a:p>
          <a:p>
            <a:pPr indent="0" lvl="0" marL="0" rtl="0" algn="ctr">
              <a:lnSpc>
                <a:spcPct val="100000"/>
              </a:lnSpc>
              <a:spcBef>
                <a:spcPts val="1000"/>
              </a:spcBef>
              <a:spcAft>
                <a:spcPts val="0"/>
              </a:spcAft>
              <a:buSzPts val="2400"/>
              <a:buNone/>
            </a:pPr>
            <a:r>
              <a:rPr lang="en-US" sz="2400"/>
              <a:t>Soham Mhatre (24MBD016), Shalini Chaurasia (24MBD004), Musab Shaikh (24MBD026)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2321374" y="369276"/>
            <a:ext cx="7631313" cy="1160586"/>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INTRODUCTION</a:t>
            </a:r>
            <a:endParaRPr/>
          </a:p>
        </p:txBody>
      </p:sp>
      <p:sp>
        <p:nvSpPr>
          <p:cNvPr id="105" name="Google Shape;105;p2"/>
          <p:cNvSpPr txBox="1"/>
          <p:nvPr>
            <p:ph idx="1" type="body"/>
          </p:nvPr>
        </p:nvSpPr>
        <p:spPr>
          <a:xfrm>
            <a:off x="457200" y="1740877"/>
            <a:ext cx="11359662" cy="486214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US" sz="2400"/>
              <a:t>Surface basal temperature typically refers to the average temperature of the Earth's surface, particularly in the context of climate studies. It serves as a baseline for comparing temperature variations over time or across different regions. Establishing a baseline often using historical data (like the 1961-1990 average)is essential for understanding how current temperatures deviate from historical norms and assessing the impacts of climate change.</a:t>
            </a:r>
            <a:endParaRPr/>
          </a:p>
          <a:p>
            <a:pPr indent="0" lvl="0" marL="0" rtl="0" algn="l">
              <a:lnSpc>
                <a:spcPct val="100000"/>
              </a:lnSpc>
              <a:spcBef>
                <a:spcPts val="1000"/>
              </a:spcBef>
              <a:spcAft>
                <a:spcPts val="0"/>
              </a:spcAft>
              <a:buSzPts val="2400"/>
              <a:buNone/>
            </a:pPr>
            <a:r>
              <a:rPr lang="en-US" sz="2400"/>
              <a:t>Objectives of the study:</a:t>
            </a:r>
            <a:endParaRPr/>
          </a:p>
          <a:p>
            <a:pPr indent="-228600" lvl="0" marL="228600" rtl="0" algn="l">
              <a:lnSpc>
                <a:spcPct val="100000"/>
              </a:lnSpc>
              <a:spcBef>
                <a:spcPts val="1000"/>
              </a:spcBef>
              <a:spcAft>
                <a:spcPts val="0"/>
              </a:spcAft>
              <a:buSzPts val="2400"/>
              <a:buChar char="•"/>
            </a:pPr>
            <a:r>
              <a:rPr lang="en-US" sz="2400"/>
              <a:t>Understand temperature variations across different regions of India.</a:t>
            </a:r>
            <a:endParaRPr/>
          </a:p>
          <a:p>
            <a:pPr indent="-228600" lvl="0" marL="228600" rtl="0" algn="l">
              <a:lnSpc>
                <a:spcPct val="100000"/>
              </a:lnSpc>
              <a:spcBef>
                <a:spcPts val="1000"/>
              </a:spcBef>
              <a:spcAft>
                <a:spcPts val="0"/>
              </a:spcAft>
              <a:buSzPts val="2400"/>
              <a:buChar char="•"/>
            </a:pPr>
            <a:r>
              <a:rPr lang="en-US" sz="2400"/>
              <a:t>Study temperature changes over time from 1901-2020.</a:t>
            </a:r>
            <a:endParaRPr/>
          </a:p>
          <a:p>
            <a:pPr indent="-228600" lvl="0" marL="228600" rtl="0" algn="l">
              <a:lnSpc>
                <a:spcPct val="100000"/>
              </a:lnSpc>
              <a:spcBef>
                <a:spcPts val="1000"/>
              </a:spcBef>
              <a:spcAft>
                <a:spcPts val="0"/>
              </a:spcAft>
              <a:buSzPts val="2400"/>
              <a:buChar char="•"/>
            </a:pPr>
            <a:r>
              <a:rPr lang="en-US" sz="2400"/>
              <a:t>Analyze patterns in different seasonal periods (Winter, Summer, etc.).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p:nvPr/>
        </p:nvSpPr>
        <p:spPr>
          <a:xfrm>
            <a:off x="5416062" y="-61546"/>
            <a:ext cx="6775937" cy="6919546"/>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11" name="Google Shape;111;p3"/>
          <p:cNvSpPr txBox="1"/>
          <p:nvPr>
            <p:ph type="title"/>
          </p:nvPr>
        </p:nvSpPr>
        <p:spPr>
          <a:xfrm>
            <a:off x="2690446" y="255946"/>
            <a:ext cx="6567853"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200"/>
              <a:buFont typeface="Gill Sans"/>
              <a:buNone/>
            </a:pPr>
            <a:r>
              <a:rPr lang="en-US"/>
              <a:t>DATA OVERVIEW</a:t>
            </a:r>
            <a:endParaRPr/>
          </a:p>
        </p:txBody>
      </p:sp>
      <p:pic>
        <p:nvPicPr>
          <p:cNvPr id="112" name="Google Shape;112;p3"/>
          <p:cNvPicPr preferRelativeResize="0"/>
          <p:nvPr>
            <p:ph idx="1" type="body"/>
          </p:nvPr>
        </p:nvPicPr>
        <p:blipFill rotWithShape="1">
          <a:blip r:embed="rId3">
            <a:alphaModFix/>
          </a:blip>
          <a:srcRect b="0" l="0" r="0" t="0"/>
          <a:stretch/>
        </p:blipFill>
        <p:spPr>
          <a:xfrm>
            <a:off x="6154616" y="1644597"/>
            <a:ext cx="5653453" cy="4545188"/>
          </a:xfrm>
          <a:prstGeom prst="rect">
            <a:avLst/>
          </a:prstGeom>
          <a:noFill/>
          <a:ln>
            <a:noFill/>
          </a:ln>
        </p:spPr>
      </p:pic>
      <p:sp>
        <p:nvSpPr>
          <p:cNvPr id="113" name="Google Shape;113;p3"/>
          <p:cNvSpPr txBox="1"/>
          <p:nvPr/>
        </p:nvSpPr>
        <p:spPr>
          <a:xfrm>
            <a:off x="351693" y="1644597"/>
            <a:ext cx="5662245" cy="4545188"/>
          </a:xfrm>
          <a:prstGeom prst="rect">
            <a:avLst/>
          </a:prstGeom>
          <a:solidFill>
            <a:srgbClr val="FFFFFF"/>
          </a:solidFill>
          <a:ln cap="sq" cmpd="sng" w="31750">
            <a:solidFill>
              <a:srgbClr val="404040"/>
            </a:solidFill>
            <a:prstDash val="solid"/>
            <a:miter lim="800000"/>
            <a:headEnd len="sm" w="sm" type="none"/>
            <a:tailEnd len="sm" w="sm" type="none"/>
          </a:ln>
        </p:spPr>
        <p:txBody>
          <a:bodyPr anchorCtr="1" anchor="ctr" bIns="182875" lIns="182875" spcFirstLastPara="1" rIns="182875" wrap="square" tIns="182875">
            <a:noAutofit/>
          </a:bodyPr>
          <a:lstStyle/>
          <a:p>
            <a:pPr indent="0" lvl="0" marL="0" marR="0" rtl="0" algn="l">
              <a:lnSpc>
                <a:spcPct val="70000"/>
              </a:lnSpc>
              <a:spcBef>
                <a:spcPts val="0"/>
              </a:spcBef>
              <a:spcAft>
                <a:spcPts val="0"/>
              </a:spcAft>
              <a:buClr>
                <a:srgbClr val="262626"/>
              </a:buClr>
              <a:buSzPts val="1600"/>
              <a:buFont typeface="Gill Sans"/>
              <a:buNone/>
            </a:pPr>
            <a:r>
              <a:rPr b="0" i="0" lang="en-US" sz="1600" u="none" cap="none" strike="noStrike">
                <a:solidFill>
                  <a:srgbClr val="262626"/>
                </a:solidFill>
                <a:latin typeface="Gill Sans"/>
                <a:ea typeface="Gill Sans"/>
                <a:cs typeface="Gill Sans"/>
                <a:sym typeface="Gill Sans"/>
              </a:rPr>
              <a:t>THE DATASET CONTAINS THE FOLLOWING COLUMNS:</a:t>
            </a:r>
            <a:endParaRPr/>
          </a:p>
          <a:p>
            <a:pPr indent="0" lvl="0" marL="0" marR="0" rtl="0" algn="l">
              <a:lnSpc>
                <a:spcPct val="70000"/>
              </a:lnSpc>
              <a:spcBef>
                <a:spcPts val="0"/>
              </a:spcBef>
              <a:spcAft>
                <a:spcPts val="0"/>
              </a:spcAft>
              <a:buClr>
                <a:srgbClr val="262626"/>
              </a:buClr>
              <a:buSzPts val="1600"/>
              <a:buFont typeface="Gill Sans"/>
              <a:buNone/>
            </a:pPr>
            <a:r>
              <a:t/>
            </a:r>
            <a:endParaRPr b="0" i="0" sz="1600" u="none" cap="none" strike="noStrike">
              <a:solidFill>
                <a:srgbClr val="262626"/>
              </a:solidFill>
              <a:latin typeface="Gill Sans"/>
              <a:ea typeface="Gill Sans"/>
              <a:cs typeface="Gill Sans"/>
              <a:sym typeface="Gill Sans"/>
            </a:endParaRPr>
          </a:p>
          <a:p>
            <a:pPr indent="0" lvl="0" marL="0" marR="0" rtl="0" algn="l">
              <a:lnSpc>
                <a:spcPct val="70000"/>
              </a:lnSpc>
              <a:spcBef>
                <a:spcPts val="0"/>
              </a:spcBef>
              <a:spcAft>
                <a:spcPts val="0"/>
              </a:spcAft>
              <a:buClr>
                <a:srgbClr val="262626"/>
              </a:buClr>
              <a:buSzPts val="1600"/>
              <a:buFont typeface="Gill Sans"/>
              <a:buNone/>
            </a:pPr>
            <a:r>
              <a:rPr b="1" i="0" lang="en-US" sz="1600" u="none" cap="none" strike="noStrike">
                <a:solidFill>
                  <a:srgbClr val="262626"/>
                </a:solidFill>
                <a:latin typeface="Gill Sans"/>
                <a:ea typeface="Gill Sans"/>
                <a:cs typeface="Gill Sans"/>
                <a:sym typeface="Gill Sans"/>
              </a:rPr>
              <a:t>STATES</a:t>
            </a:r>
            <a:r>
              <a:rPr b="0" i="0" lang="en-US" sz="1600" u="none" cap="none" strike="noStrike">
                <a:solidFill>
                  <a:srgbClr val="262626"/>
                </a:solidFill>
                <a:latin typeface="Gill Sans"/>
                <a:ea typeface="Gill Sans"/>
                <a:cs typeface="Gill Sans"/>
                <a:sym typeface="Gill Sans"/>
              </a:rPr>
              <a:t>: THE NAME OF THE STATE (E.G., ANDAMAN AND NICOBAR, WEST BENGAL).</a:t>
            </a:r>
            <a:endParaRPr/>
          </a:p>
          <a:p>
            <a:pPr indent="0" lvl="0" marL="0" marR="0" rtl="0" algn="l">
              <a:lnSpc>
                <a:spcPct val="70000"/>
              </a:lnSpc>
              <a:spcBef>
                <a:spcPts val="0"/>
              </a:spcBef>
              <a:spcAft>
                <a:spcPts val="0"/>
              </a:spcAft>
              <a:buClr>
                <a:srgbClr val="262626"/>
              </a:buClr>
              <a:buSzPts val="1600"/>
              <a:buFont typeface="Gill Sans"/>
              <a:buNone/>
            </a:pPr>
            <a:r>
              <a:t/>
            </a:r>
            <a:endParaRPr b="0" i="0" sz="1600" u="none" cap="none" strike="noStrike">
              <a:solidFill>
                <a:srgbClr val="262626"/>
              </a:solidFill>
              <a:latin typeface="Gill Sans"/>
              <a:ea typeface="Gill Sans"/>
              <a:cs typeface="Gill Sans"/>
              <a:sym typeface="Gill Sans"/>
            </a:endParaRPr>
          </a:p>
          <a:p>
            <a:pPr indent="0" lvl="0" marL="0" marR="0" rtl="0" algn="l">
              <a:lnSpc>
                <a:spcPct val="70000"/>
              </a:lnSpc>
              <a:spcBef>
                <a:spcPts val="0"/>
              </a:spcBef>
              <a:spcAft>
                <a:spcPts val="0"/>
              </a:spcAft>
              <a:buClr>
                <a:srgbClr val="262626"/>
              </a:buClr>
              <a:buSzPts val="1600"/>
              <a:buFont typeface="Gill Sans"/>
              <a:buNone/>
            </a:pPr>
            <a:r>
              <a:rPr b="1" i="0" lang="en-US" sz="1600" u="none" cap="none" strike="noStrike">
                <a:solidFill>
                  <a:srgbClr val="262626"/>
                </a:solidFill>
                <a:latin typeface="Gill Sans"/>
                <a:ea typeface="Gill Sans"/>
                <a:cs typeface="Gill Sans"/>
                <a:sym typeface="Gill Sans"/>
              </a:rPr>
              <a:t>ZONE</a:t>
            </a:r>
            <a:r>
              <a:rPr b="0" i="0" lang="en-US" sz="1600" u="none" cap="none" strike="noStrike">
                <a:solidFill>
                  <a:srgbClr val="262626"/>
                </a:solidFill>
                <a:latin typeface="Gill Sans"/>
                <a:ea typeface="Gill Sans"/>
                <a:cs typeface="Gill Sans"/>
                <a:sym typeface="Gill Sans"/>
              </a:rPr>
              <a:t>: THE GEOGRAPHICAL ZONE THE STATE BELONGS TO (E.G., SOUTH, EAST).</a:t>
            </a:r>
            <a:endParaRPr/>
          </a:p>
          <a:p>
            <a:pPr indent="0" lvl="0" marL="0" marR="0" rtl="0" algn="l">
              <a:lnSpc>
                <a:spcPct val="70000"/>
              </a:lnSpc>
              <a:spcBef>
                <a:spcPts val="0"/>
              </a:spcBef>
              <a:spcAft>
                <a:spcPts val="0"/>
              </a:spcAft>
              <a:buClr>
                <a:srgbClr val="262626"/>
              </a:buClr>
              <a:buSzPts val="1600"/>
              <a:buFont typeface="Gill Sans"/>
              <a:buNone/>
            </a:pPr>
            <a:r>
              <a:t/>
            </a:r>
            <a:endParaRPr b="0" i="0" sz="1600" u="none" cap="none" strike="noStrike">
              <a:solidFill>
                <a:srgbClr val="262626"/>
              </a:solidFill>
              <a:latin typeface="Gill Sans"/>
              <a:ea typeface="Gill Sans"/>
              <a:cs typeface="Gill Sans"/>
              <a:sym typeface="Gill Sans"/>
            </a:endParaRPr>
          </a:p>
          <a:p>
            <a:pPr indent="0" lvl="0" marL="0" marR="0" rtl="0" algn="l">
              <a:lnSpc>
                <a:spcPct val="70000"/>
              </a:lnSpc>
              <a:spcBef>
                <a:spcPts val="0"/>
              </a:spcBef>
              <a:spcAft>
                <a:spcPts val="0"/>
              </a:spcAft>
              <a:buClr>
                <a:srgbClr val="262626"/>
              </a:buClr>
              <a:buSzPts val="1600"/>
              <a:buFont typeface="Gill Sans"/>
              <a:buNone/>
            </a:pPr>
            <a:r>
              <a:rPr b="1" i="0" lang="en-US" sz="1600" u="none" cap="none" strike="noStrike">
                <a:solidFill>
                  <a:srgbClr val="262626"/>
                </a:solidFill>
                <a:latin typeface="Gill Sans"/>
                <a:ea typeface="Gill Sans"/>
                <a:cs typeface="Gill Sans"/>
                <a:sym typeface="Gill Sans"/>
              </a:rPr>
              <a:t>PERIOD</a:t>
            </a:r>
            <a:r>
              <a:rPr b="0" i="0" lang="en-US" sz="1600" u="none" cap="none" strike="noStrike">
                <a:solidFill>
                  <a:srgbClr val="262626"/>
                </a:solidFill>
                <a:latin typeface="Gill Sans"/>
                <a:ea typeface="Gill Sans"/>
                <a:cs typeface="Gill Sans"/>
                <a:sym typeface="Gill Sans"/>
              </a:rPr>
              <a:t>: THE TIME PERIOD (E.G., JANUARY, WINTER, ANNUAL).</a:t>
            </a:r>
            <a:endParaRPr/>
          </a:p>
          <a:p>
            <a:pPr indent="0" lvl="0" marL="0" marR="0" rtl="0" algn="l">
              <a:lnSpc>
                <a:spcPct val="70000"/>
              </a:lnSpc>
              <a:spcBef>
                <a:spcPts val="0"/>
              </a:spcBef>
              <a:spcAft>
                <a:spcPts val="0"/>
              </a:spcAft>
              <a:buClr>
                <a:srgbClr val="262626"/>
              </a:buClr>
              <a:buSzPts val="1600"/>
              <a:buFont typeface="Gill Sans"/>
              <a:buNone/>
            </a:pPr>
            <a:r>
              <a:t/>
            </a:r>
            <a:endParaRPr b="0" i="0" sz="1600" u="none" cap="none" strike="noStrike">
              <a:solidFill>
                <a:srgbClr val="262626"/>
              </a:solidFill>
              <a:latin typeface="Gill Sans"/>
              <a:ea typeface="Gill Sans"/>
              <a:cs typeface="Gill Sans"/>
              <a:sym typeface="Gill Sans"/>
            </a:endParaRPr>
          </a:p>
          <a:p>
            <a:pPr indent="0" lvl="0" marL="0" marR="0" rtl="0" algn="l">
              <a:lnSpc>
                <a:spcPct val="70000"/>
              </a:lnSpc>
              <a:spcBef>
                <a:spcPts val="0"/>
              </a:spcBef>
              <a:spcAft>
                <a:spcPts val="0"/>
              </a:spcAft>
              <a:buClr>
                <a:srgbClr val="262626"/>
              </a:buClr>
              <a:buSzPts val="1600"/>
              <a:buFont typeface="Gill Sans"/>
              <a:buNone/>
            </a:pPr>
            <a:r>
              <a:rPr b="1" i="0" lang="en-US" sz="1600" u="none" cap="none" strike="noStrike">
                <a:solidFill>
                  <a:srgbClr val="262626"/>
                </a:solidFill>
                <a:latin typeface="Gill Sans"/>
                <a:ea typeface="Gill Sans"/>
                <a:cs typeface="Gill Sans"/>
                <a:sym typeface="Gill Sans"/>
              </a:rPr>
              <a:t>YEAR</a:t>
            </a:r>
            <a:r>
              <a:rPr b="0" i="0" lang="en-US" sz="1600" u="none" cap="none" strike="noStrike">
                <a:solidFill>
                  <a:srgbClr val="262626"/>
                </a:solidFill>
                <a:latin typeface="Gill Sans"/>
                <a:ea typeface="Gill Sans"/>
                <a:cs typeface="Gill Sans"/>
                <a:sym typeface="Gill Sans"/>
              </a:rPr>
              <a:t>: THE YEAR OF THE TEMPERATURE MEASUREMENT (E.G., 1901, 2020).</a:t>
            </a:r>
            <a:endParaRPr/>
          </a:p>
          <a:p>
            <a:pPr indent="0" lvl="0" marL="0" marR="0" rtl="0" algn="l">
              <a:lnSpc>
                <a:spcPct val="70000"/>
              </a:lnSpc>
              <a:spcBef>
                <a:spcPts val="0"/>
              </a:spcBef>
              <a:spcAft>
                <a:spcPts val="0"/>
              </a:spcAft>
              <a:buClr>
                <a:srgbClr val="262626"/>
              </a:buClr>
              <a:buSzPts val="1600"/>
              <a:buFont typeface="Gill Sans"/>
              <a:buNone/>
            </a:pPr>
            <a:r>
              <a:t/>
            </a:r>
            <a:endParaRPr b="0" i="0" sz="1600" u="none" cap="none" strike="noStrike">
              <a:solidFill>
                <a:srgbClr val="262626"/>
              </a:solidFill>
              <a:latin typeface="Gill Sans"/>
              <a:ea typeface="Gill Sans"/>
              <a:cs typeface="Gill Sans"/>
              <a:sym typeface="Gill Sans"/>
            </a:endParaRPr>
          </a:p>
          <a:p>
            <a:pPr indent="0" lvl="0" marL="0" marR="0" rtl="0" algn="l">
              <a:lnSpc>
                <a:spcPct val="70000"/>
              </a:lnSpc>
              <a:spcBef>
                <a:spcPts val="0"/>
              </a:spcBef>
              <a:spcAft>
                <a:spcPts val="0"/>
              </a:spcAft>
              <a:buClr>
                <a:srgbClr val="262626"/>
              </a:buClr>
              <a:buSzPts val="1600"/>
              <a:buFont typeface="Gill Sans"/>
              <a:buNone/>
            </a:pPr>
            <a:r>
              <a:rPr b="1" i="0" lang="en-US" sz="1600" u="none" cap="none" strike="noStrike">
                <a:solidFill>
                  <a:srgbClr val="262626"/>
                </a:solidFill>
                <a:latin typeface="Gill Sans"/>
                <a:ea typeface="Gill Sans"/>
                <a:cs typeface="Gill Sans"/>
                <a:sym typeface="Gill Sans"/>
              </a:rPr>
              <a:t>TEMP_CHANGE</a:t>
            </a:r>
            <a:r>
              <a:rPr b="0" i="0" lang="en-US" sz="1600" u="none" cap="none" strike="noStrike">
                <a:solidFill>
                  <a:srgbClr val="262626"/>
                </a:solidFill>
                <a:latin typeface="Gill Sans"/>
                <a:ea typeface="Gill Sans"/>
                <a:cs typeface="Gill Sans"/>
                <a:sym typeface="Gill Sans"/>
              </a:rPr>
              <a:t>: THE TEMPERATURE CHANGE IN THAT YEAR RELATIVE TO THE BASELINE MEAN.</a:t>
            </a:r>
            <a:endParaRPr/>
          </a:p>
          <a:p>
            <a:pPr indent="0" lvl="0" marL="0" marR="0" rtl="0" algn="l">
              <a:lnSpc>
                <a:spcPct val="70000"/>
              </a:lnSpc>
              <a:spcBef>
                <a:spcPts val="0"/>
              </a:spcBef>
              <a:spcAft>
                <a:spcPts val="0"/>
              </a:spcAft>
              <a:buClr>
                <a:srgbClr val="262626"/>
              </a:buClr>
              <a:buSzPts val="1600"/>
              <a:buFont typeface="Gill Sans"/>
              <a:buNone/>
            </a:pPr>
            <a:r>
              <a:t/>
            </a:r>
            <a:endParaRPr b="1" i="0" sz="1600" u="none" cap="none" strike="noStrike">
              <a:solidFill>
                <a:srgbClr val="262626"/>
              </a:solidFill>
              <a:latin typeface="Gill Sans"/>
              <a:ea typeface="Gill Sans"/>
              <a:cs typeface="Gill Sans"/>
              <a:sym typeface="Gill Sans"/>
            </a:endParaRPr>
          </a:p>
          <a:p>
            <a:pPr indent="0" lvl="0" marL="0" marR="0" rtl="0" algn="l">
              <a:lnSpc>
                <a:spcPct val="70000"/>
              </a:lnSpc>
              <a:spcBef>
                <a:spcPts val="0"/>
              </a:spcBef>
              <a:spcAft>
                <a:spcPts val="0"/>
              </a:spcAft>
              <a:buClr>
                <a:srgbClr val="262626"/>
              </a:buClr>
              <a:buSzPts val="1600"/>
              <a:buFont typeface="Gill Sans"/>
              <a:buNone/>
            </a:pPr>
            <a:r>
              <a:rPr b="1" i="0" lang="en-US" sz="1600" u="none" cap="none" strike="noStrike">
                <a:solidFill>
                  <a:srgbClr val="262626"/>
                </a:solidFill>
                <a:latin typeface="Gill Sans"/>
                <a:ea typeface="Gill Sans"/>
                <a:cs typeface="Gill Sans"/>
                <a:sym typeface="Gill Sans"/>
              </a:rPr>
              <a:t>BASELINE MEAN</a:t>
            </a:r>
            <a:r>
              <a:rPr b="0" i="0" lang="en-US" sz="1600" u="none" cap="none" strike="noStrike">
                <a:solidFill>
                  <a:srgbClr val="262626"/>
                </a:solidFill>
                <a:latin typeface="Gill Sans"/>
                <a:ea typeface="Gill Sans"/>
                <a:cs typeface="Gill Sans"/>
                <a:sym typeface="Gill Sans"/>
              </a:rPr>
              <a:t>: THE BASELINE MEAN TEMPERATURE (AVERAGED FOR THE PERIOD 1961-1990).</a:t>
            </a:r>
            <a:endParaRPr/>
          </a:p>
          <a:p>
            <a:pPr indent="0" lvl="0" marL="0" marR="0" rtl="0" algn="ctr">
              <a:lnSpc>
                <a:spcPct val="70000"/>
              </a:lnSpc>
              <a:spcBef>
                <a:spcPts val="0"/>
              </a:spcBef>
              <a:spcAft>
                <a:spcPts val="0"/>
              </a:spcAft>
              <a:buClr>
                <a:srgbClr val="262626"/>
              </a:buClr>
              <a:buSzPts val="1600"/>
              <a:buFont typeface="Gill Sans"/>
              <a:buNone/>
            </a:pPr>
            <a:r>
              <a:t/>
            </a:r>
            <a:endParaRPr b="0" i="0" sz="1600" u="none" cap="none" strike="noStrike">
              <a:solidFill>
                <a:srgbClr val="262626"/>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1007872" y="455668"/>
            <a:ext cx="10544048" cy="1141497"/>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200"/>
              <a:buFont typeface="Gill Sans"/>
              <a:buNone/>
            </a:pPr>
            <a:r>
              <a:rPr lang="en-US"/>
              <a:t>DESCRIPTIVE ANALYSIS OF TEMPERATURE CHANGE</a:t>
            </a:r>
            <a:endParaRPr/>
          </a:p>
        </p:txBody>
      </p:sp>
      <p:pic>
        <p:nvPicPr>
          <p:cNvPr id="119" name="Google Shape;119;p4"/>
          <p:cNvPicPr preferRelativeResize="0"/>
          <p:nvPr>
            <p:ph idx="1" type="body"/>
          </p:nvPr>
        </p:nvPicPr>
        <p:blipFill rotWithShape="1">
          <a:blip r:embed="rId3">
            <a:alphaModFix/>
          </a:blip>
          <a:srcRect b="0" l="0" r="0" t="0"/>
          <a:stretch/>
        </p:blipFill>
        <p:spPr>
          <a:xfrm>
            <a:off x="753872" y="1884680"/>
            <a:ext cx="4766156" cy="4653280"/>
          </a:xfrm>
          <a:prstGeom prst="rect">
            <a:avLst/>
          </a:prstGeom>
          <a:noFill/>
          <a:ln>
            <a:noFill/>
          </a:ln>
        </p:spPr>
      </p:pic>
      <p:sp>
        <p:nvSpPr>
          <p:cNvPr id="120" name="Google Shape;120;p4"/>
          <p:cNvSpPr/>
          <p:nvPr/>
        </p:nvSpPr>
        <p:spPr>
          <a:xfrm>
            <a:off x="6319520" y="1798320"/>
            <a:ext cx="5407915" cy="473964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800" u="none" cap="none" strike="noStrike">
                <a:solidFill>
                  <a:schemeClr val="dk1"/>
                </a:solidFill>
                <a:latin typeface="Gill Sans"/>
                <a:ea typeface="Gill Sans"/>
                <a:cs typeface="Gill Sans"/>
                <a:sym typeface="Gill Sans"/>
              </a:rPr>
              <a:t>Mean:</a:t>
            </a:r>
            <a:r>
              <a:rPr b="0" i="0" lang="en-US" sz="1800" u="none" cap="none" strike="noStrike">
                <a:solidFill>
                  <a:schemeClr val="dk1"/>
                </a:solidFill>
                <a:latin typeface="Gill Sans"/>
                <a:ea typeface="Gill Sans"/>
                <a:cs typeface="Gill Sans"/>
                <a:sym typeface="Gill Sans"/>
              </a:rPr>
              <a:t> On average, the temperature has increased by </a:t>
            </a:r>
            <a:r>
              <a:rPr b="1" i="0" lang="en-US" sz="1800" u="sng" cap="none" strike="noStrike">
                <a:solidFill>
                  <a:schemeClr val="dk1"/>
                </a:solidFill>
                <a:latin typeface="Gill Sans"/>
                <a:ea typeface="Gill Sans"/>
                <a:cs typeface="Gill Sans"/>
                <a:sym typeface="Gill Sans"/>
              </a:rPr>
              <a:t>0.0689°C</a:t>
            </a:r>
            <a:r>
              <a:rPr b="0" i="0" lang="en-US" sz="1800" u="none" cap="none" strike="noStrike">
                <a:solidFill>
                  <a:schemeClr val="dk1"/>
                </a:solidFill>
                <a:latin typeface="Gill Sans"/>
                <a:ea typeface="Gill Sans"/>
                <a:cs typeface="Gill Sans"/>
                <a:sym typeface="Gill Sans"/>
              </a:rPr>
              <a:t> relative to the baseline.</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1800">
                <a:solidFill>
                  <a:schemeClr val="dk1"/>
                </a:solidFill>
                <a:latin typeface="Gill Sans"/>
                <a:ea typeface="Gill Sans"/>
                <a:cs typeface="Gill Sans"/>
                <a:sym typeface="Gill Sans"/>
              </a:rPr>
              <a:t>Median:</a:t>
            </a:r>
            <a:r>
              <a:rPr lang="en-US" sz="1800">
                <a:solidFill>
                  <a:schemeClr val="dk1"/>
                </a:solidFill>
                <a:latin typeface="Gill Sans"/>
                <a:ea typeface="Gill Sans"/>
                <a:cs typeface="Gill Sans"/>
                <a:sym typeface="Gill Sans"/>
              </a:rPr>
              <a:t> Half of the data points have a temperature change below </a:t>
            </a:r>
            <a:r>
              <a:rPr b="1" lang="en-US" sz="1800" u="sng">
                <a:solidFill>
                  <a:schemeClr val="dk1"/>
                </a:solidFill>
                <a:latin typeface="Gill Sans"/>
                <a:ea typeface="Gill Sans"/>
                <a:cs typeface="Gill Sans"/>
                <a:sym typeface="Gill Sans"/>
              </a:rPr>
              <a:t>0.03°C</a:t>
            </a:r>
            <a:r>
              <a:rPr lang="en-US" sz="1800">
                <a:solidFill>
                  <a:schemeClr val="dk1"/>
                </a:solidFill>
                <a:latin typeface="Gill Sans"/>
                <a:ea typeface="Gill Sans"/>
                <a:cs typeface="Gill Sans"/>
                <a:sym typeface="Gill Sans"/>
              </a:rPr>
              <a:t>, and half have a change above this value.</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1800">
                <a:solidFill>
                  <a:schemeClr val="dk1"/>
                </a:solidFill>
                <a:latin typeface="Gill Sans"/>
                <a:ea typeface="Gill Sans"/>
                <a:cs typeface="Gill Sans"/>
                <a:sym typeface="Gill Sans"/>
              </a:rPr>
              <a:t>Variance: </a:t>
            </a:r>
            <a:r>
              <a:rPr lang="en-US" sz="1800">
                <a:solidFill>
                  <a:schemeClr val="dk1"/>
                </a:solidFill>
                <a:latin typeface="Gill Sans"/>
                <a:ea typeface="Gill Sans"/>
                <a:cs typeface="Gill Sans"/>
                <a:sym typeface="Gill Sans"/>
              </a:rPr>
              <a:t>A standard deviation of </a:t>
            </a:r>
            <a:r>
              <a:rPr b="1" lang="en-US" sz="1800" u="sng">
                <a:solidFill>
                  <a:schemeClr val="dk1"/>
                </a:solidFill>
                <a:latin typeface="Gill Sans"/>
                <a:ea typeface="Gill Sans"/>
                <a:cs typeface="Gill Sans"/>
                <a:sym typeface="Gill Sans"/>
              </a:rPr>
              <a:t>0.4161°C</a:t>
            </a:r>
            <a:r>
              <a:rPr lang="en-US" sz="1800">
                <a:solidFill>
                  <a:schemeClr val="dk1"/>
                </a:solidFill>
                <a:latin typeface="Gill Sans"/>
                <a:ea typeface="Gill Sans"/>
                <a:cs typeface="Gill Sans"/>
                <a:sym typeface="Gill Sans"/>
              </a:rPr>
              <a:t> indicates that the temperature changes vary, on average, by about </a:t>
            </a:r>
            <a:r>
              <a:rPr b="1" lang="en-US" sz="1800" u="sng">
                <a:solidFill>
                  <a:schemeClr val="dk1"/>
                </a:solidFill>
                <a:latin typeface="Gill Sans"/>
                <a:ea typeface="Gill Sans"/>
                <a:cs typeface="Gill Sans"/>
                <a:sym typeface="Gill Sans"/>
              </a:rPr>
              <a:t>0.4161°C</a:t>
            </a:r>
            <a:r>
              <a:rPr lang="en-US" sz="1800">
                <a:solidFill>
                  <a:schemeClr val="dk1"/>
                </a:solidFill>
                <a:latin typeface="Gill Sans"/>
                <a:ea typeface="Gill Sans"/>
                <a:cs typeface="Gill Sans"/>
                <a:sym typeface="Gill Sans"/>
              </a:rPr>
              <a:t> from the mean value.</a:t>
            </a:r>
            <a:endParaRPr/>
          </a:p>
          <a:p>
            <a:pPr indent="0" lvl="0" marL="0" marR="0" rtl="0" algn="l">
              <a:spcBef>
                <a:spcPts val="0"/>
              </a:spcBef>
              <a:spcAft>
                <a:spcPts val="0"/>
              </a:spcAft>
              <a:buNone/>
            </a:pPr>
            <a:r>
              <a:t/>
            </a:r>
            <a:endParaRPr b="1" sz="18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1800">
                <a:solidFill>
                  <a:schemeClr val="dk1"/>
                </a:solidFill>
                <a:latin typeface="Gill Sans"/>
                <a:ea typeface="Gill Sans"/>
                <a:cs typeface="Gill Sans"/>
                <a:sym typeface="Gill Sans"/>
              </a:rPr>
              <a:t>Skewness: </a:t>
            </a:r>
            <a:r>
              <a:rPr lang="en-US" sz="1800">
                <a:solidFill>
                  <a:schemeClr val="dk1"/>
                </a:solidFill>
                <a:latin typeface="Gill Sans"/>
                <a:ea typeface="Gill Sans"/>
                <a:cs typeface="Gill Sans"/>
                <a:sym typeface="Gill Sans"/>
              </a:rPr>
              <a:t>A skewness of </a:t>
            </a:r>
            <a:r>
              <a:rPr b="1" lang="en-US" sz="1800" u="sng">
                <a:solidFill>
                  <a:schemeClr val="dk1"/>
                </a:solidFill>
                <a:latin typeface="Gill Sans"/>
                <a:ea typeface="Gill Sans"/>
                <a:cs typeface="Gill Sans"/>
                <a:sym typeface="Gill Sans"/>
              </a:rPr>
              <a:t>0.4279</a:t>
            </a:r>
            <a:r>
              <a:rPr lang="en-US" sz="1800">
                <a:solidFill>
                  <a:schemeClr val="dk1"/>
                </a:solidFill>
                <a:latin typeface="Gill Sans"/>
                <a:ea typeface="Gill Sans"/>
                <a:cs typeface="Gill Sans"/>
                <a:sym typeface="Gill Sans"/>
              </a:rPr>
              <a:t> indicates that the data is slightly </a:t>
            </a:r>
            <a:r>
              <a:rPr b="1" lang="en-US" sz="1800" u="sng">
                <a:solidFill>
                  <a:schemeClr val="dk1"/>
                </a:solidFill>
                <a:latin typeface="Gill Sans"/>
                <a:ea typeface="Gill Sans"/>
                <a:cs typeface="Gill Sans"/>
                <a:sym typeface="Gill Sans"/>
              </a:rPr>
              <a:t>positively</a:t>
            </a:r>
            <a:r>
              <a:rPr b="1" lang="en-US" sz="1800">
                <a:solidFill>
                  <a:schemeClr val="dk1"/>
                </a:solidFill>
                <a:latin typeface="Gill Sans"/>
                <a:ea typeface="Gill Sans"/>
                <a:cs typeface="Gill Sans"/>
                <a:sym typeface="Gill Sans"/>
              </a:rPr>
              <a:t> </a:t>
            </a:r>
            <a:r>
              <a:rPr b="1" lang="en-US" sz="1800" u="sng">
                <a:solidFill>
                  <a:schemeClr val="dk1"/>
                </a:solidFill>
                <a:latin typeface="Gill Sans"/>
                <a:ea typeface="Gill Sans"/>
                <a:cs typeface="Gill Sans"/>
                <a:sym typeface="Gill Sans"/>
              </a:rPr>
              <a:t>skewed</a:t>
            </a:r>
            <a:r>
              <a:rPr lang="en-US" sz="1800">
                <a:solidFill>
                  <a:schemeClr val="dk1"/>
                </a:solidFill>
                <a:latin typeface="Gill Sans"/>
                <a:ea typeface="Gill Sans"/>
                <a:cs typeface="Gill Sans"/>
                <a:sym typeface="Gill Sans"/>
              </a:rPr>
              <a:t>,</a:t>
            </a:r>
            <a:endParaRPr/>
          </a:p>
          <a:p>
            <a:pPr indent="0" lvl="0" marL="0" marR="0" rtl="0" algn="l">
              <a:spcBef>
                <a:spcPts val="0"/>
              </a:spcBef>
              <a:spcAft>
                <a:spcPts val="0"/>
              </a:spcAft>
              <a:buNone/>
            </a:pPr>
            <a:r>
              <a:t/>
            </a:r>
            <a:endParaRPr sz="1800">
              <a:solidFill>
                <a:schemeClr val="dk1"/>
              </a:solidFill>
              <a:latin typeface="Gill Sans"/>
              <a:ea typeface="Gill Sans"/>
              <a:cs typeface="Gill Sans"/>
              <a:sym typeface="Gill Sans"/>
            </a:endParaRPr>
          </a:p>
          <a:p>
            <a:pPr indent="0" lvl="0" marL="0" marR="0" rtl="0" algn="l">
              <a:spcBef>
                <a:spcPts val="0"/>
              </a:spcBef>
              <a:spcAft>
                <a:spcPts val="0"/>
              </a:spcAft>
              <a:buNone/>
            </a:pPr>
            <a:r>
              <a:rPr b="1" lang="en-US" sz="1800">
                <a:solidFill>
                  <a:schemeClr val="dk1"/>
                </a:solidFill>
                <a:latin typeface="Gill Sans"/>
                <a:ea typeface="Gill Sans"/>
                <a:cs typeface="Gill Sans"/>
                <a:sym typeface="Gill Sans"/>
              </a:rPr>
              <a:t>Kurtosis: </a:t>
            </a:r>
            <a:r>
              <a:rPr lang="en-US" sz="1800">
                <a:solidFill>
                  <a:schemeClr val="dk1"/>
                </a:solidFill>
                <a:latin typeface="Gill Sans"/>
                <a:ea typeface="Gill Sans"/>
                <a:cs typeface="Gill Sans"/>
                <a:sym typeface="Gill Sans"/>
              </a:rPr>
              <a:t>A kurtosis value of </a:t>
            </a:r>
            <a:r>
              <a:rPr b="1" lang="en-US" sz="1800" u="sng">
                <a:solidFill>
                  <a:schemeClr val="dk1"/>
                </a:solidFill>
                <a:latin typeface="Gill Sans"/>
                <a:ea typeface="Gill Sans"/>
                <a:cs typeface="Gill Sans"/>
                <a:sym typeface="Gill Sans"/>
              </a:rPr>
              <a:t>0.0667</a:t>
            </a:r>
            <a:r>
              <a:rPr lang="en-US" sz="1800">
                <a:solidFill>
                  <a:schemeClr val="dk1"/>
                </a:solidFill>
                <a:latin typeface="Gill Sans"/>
                <a:ea typeface="Gill Sans"/>
                <a:cs typeface="Gill Sans"/>
                <a:sym typeface="Gill Sans"/>
              </a:rPr>
              <a:t> is close to zero, which indicates the distribution is fairly </a:t>
            </a:r>
            <a:r>
              <a:rPr b="1" lang="en-US" sz="1800" u="sng">
                <a:solidFill>
                  <a:schemeClr val="dk1"/>
                </a:solidFill>
                <a:latin typeface="Gill Sans"/>
                <a:ea typeface="Gill Sans"/>
                <a:cs typeface="Gill Sans"/>
                <a:sym typeface="Gill Sans"/>
              </a:rPr>
              <a:t>normal</a:t>
            </a:r>
            <a:r>
              <a:rPr lang="en-US" sz="1800">
                <a:solidFill>
                  <a:schemeClr val="dk1"/>
                </a:solidFill>
                <a:latin typeface="Gill Sans"/>
                <a:ea typeface="Gill Sans"/>
                <a:cs typeface="Gill Sans"/>
                <a:sym typeface="Gill Sans"/>
              </a:rPr>
              <a:t> </a:t>
            </a:r>
            <a:endParaRPr b="1" sz="1800">
              <a:solidFill>
                <a:schemeClr val="dk1"/>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5"/>
          <p:cNvSpPr txBox="1"/>
          <p:nvPr>
            <p:ph type="title"/>
          </p:nvPr>
        </p:nvSpPr>
        <p:spPr>
          <a:xfrm>
            <a:off x="741680" y="456692"/>
            <a:ext cx="10688320" cy="73202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VISUALIZING TEMPERATURE TRENDS: HISTOGRAM</a:t>
            </a:r>
            <a:endParaRPr/>
          </a:p>
        </p:txBody>
      </p:sp>
      <p:pic>
        <p:nvPicPr>
          <p:cNvPr id="126" name="Google Shape;126;p5"/>
          <p:cNvPicPr preferRelativeResize="0"/>
          <p:nvPr/>
        </p:nvPicPr>
        <p:blipFill rotWithShape="1">
          <a:blip r:embed="rId3">
            <a:alphaModFix/>
          </a:blip>
          <a:srcRect b="0" l="0" r="0" t="0"/>
          <a:stretch/>
        </p:blipFill>
        <p:spPr>
          <a:xfrm>
            <a:off x="640709" y="1416588"/>
            <a:ext cx="7436492" cy="5004532"/>
          </a:xfrm>
          <a:prstGeom prst="rect">
            <a:avLst/>
          </a:prstGeom>
          <a:noFill/>
          <a:ln>
            <a:noFill/>
          </a:ln>
        </p:spPr>
      </p:pic>
      <p:sp>
        <p:nvSpPr>
          <p:cNvPr id="127" name="Google Shape;127;p5"/>
          <p:cNvSpPr/>
          <p:nvPr/>
        </p:nvSpPr>
        <p:spPr>
          <a:xfrm>
            <a:off x="8291189" y="2074874"/>
            <a:ext cx="3616331" cy="313932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0" lang="en-US" sz="1800" u="sng" cap="none" strike="noStrike">
                <a:solidFill>
                  <a:schemeClr val="dk1"/>
                </a:solidFill>
                <a:latin typeface="Arial"/>
                <a:ea typeface="Arial"/>
                <a:cs typeface="Arial"/>
                <a:sym typeface="Arial"/>
              </a:rPr>
              <a:t>Conclusion:</a:t>
            </a:r>
            <a:endParaRPr/>
          </a:p>
          <a:p>
            <a:pPr indent="0" lvl="0" marL="0" marR="0" rtl="0" algn="l">
              <a:lnSpc>
                <a:spcPct val="100000"/>
              </a:lnSpc>
              <a:spcBef>
                <a:spcPts val="0"/>
              </a:spcBef>
              <a:spcAft>
                <a:spcPts val="0"/>
              </a:spcAft>
              <a:buNone/>
            </a:pPr>
            <a:r>
              <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b="1" i="0" lang="en-US" sz="1800" u="none" cap="none" strike="noStrike">
                <a:solidFill>
                  <a:schemeClr val="dk1"/>
                </a:solidFill>
                <a:latin typeface="Arial"/>
                <a:ea typeface="Arial"/>
                <a:cs typeface="Arial"/>
                <a:sym typeface="Arial"/>
              </a:rPr>
              <a:t>Normal distribution:</a:t>
            </a:r>
            <a:r>
              <a:rPr b="0" i="0" lang="en-US" sz="18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800" u="none" cap="none" strike="noStrike">
                <a:solidFill>
                  <a:schemeClr val="dk1"/>
                </a:solidFill>
                <a:latin typeface="Arial"/>
                <a:ea typeface="Arial"/>
                <a:cs typeface="Arial"/>
                <a:sym typeface="Arial"/>
              </a:rPr>
              <a:t>Stable temperature changes</a:t>
            </a:r>
            <a:endParaRPr/>
          </a:p>
          <a:p>
            <a:pPr indent="0" lvl="0" marL="0" marR="0" rtl="0" algn="l">
              <a:lnSpc>
                <a:spcPct val="100000"/>
              </a:lnSpc>
              <a:spcBef>
                <a:spcPts val="0"/>
              </a:spcBef>
              <a:spcAft>
                <a:spcPts val="0"/>
              </a:spcAft>
              <a:buNone/>
            </a:pPr>
            <a:r>
              <a:rPr b="1" i="0" lang="en-US" sz="1800" u="none" cap="none" strike="noStrike">
                <a:solidFill>
                  <a:schemeClr val="dk1"/>
                </a:solidFill>
                <a:latin typeface="Arial"/>
                <a:ea typeface="Arial"/>
                <a:cs typeface="Arial"/>
                <a:sym typeface="Arial"/>
              </a:rPr>
              <a:t>Higher mean:</a:t>
            </a:r>
            <a:r>
              <a:rPr b="0" i="0" lang="en-US" sz="18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800" u="none" cap="none" strike="noStrike">
                <a:solidFill>
                  <a:schemeClr val="dk1"/>
                </a:solidFill>
                <a:latin typeface="Arial"/>
                <a:ea typeface="Arial"/>
                <a:cs typeface="Arial"/>
                <a:sym typeface="Arial"/>
              </a:rPr>
              <a:t>A few larger positive changes</a:t>
            </a:r>
            <a:endParaRPr/>
          </a:p>
          <a:p>
            <a:pPr indent="0" lvl="0" marL="0" marR="0" rtl="0" algn="l">
              <a:lnSpc>
                <a:spcPct val="100000"/>
              </a:lnSpc>
              <a:spcBef>
                <a:spcPts val="0"/>
              </a:spcBef>
              <a:spcAft>
                <a:spcPts val="0"/>
              </a:spcAft>
              <a:buNone/>
            </a:pPr>
            <a:r>
              <a:rPr b="1" i="0" lang="en-US" sz="1800" u="none" cap="none" strike="noStrike">
                <a:solidFill>
                  <a:schemeClr val="dk1"/>
                </a:solidFill>
                <a:latin typeface="Arial"/>
                <a:ea typeface="Arial"/>
                <a:cs typeface="Arial"/>
                <a:sym typeface="Arial"/>
              </a:rPr>
              <a:t>Histogram shape:</a:t>
            </a:r>
            <a:r>
              <a:rPr b="0" i="0" lang="en-US" sz="1800" u="none" cap="none" strike="noStrik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None/>
            </a:pPr>
            <a:r>
              <a:rPr b="0" i="0" lang="en-US" sz="1800" u="none" cap="none" strike="noStrike">
                <a:solidFill>
                  <a:schemeClr val="dk1"/>
                </a:solidFill>
                <a:latin typeface="Arial"/>
                <a:ea typeface="Arial"/>
                <a:cs typeface="Arial"/>
                <a:sym typeface="Arial"/>
              </a:rPr>
              <a:t>Reveals variability and central tendency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0693b6e602_0_11"/>
          <p:cNvSpPr/>
          <p:nvPr/>
        </p:nvSpPr>
        <p:spPr>
          <a:xfrm>
            <a:off x="-182880" y="-71120"/>
            <a:ext cx="12588300" cy="701040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id="133" name="Google Shape;133;g30693b6e602_0_11"/>
          <p:cNvPicPr preferRelativeResize="0"/>
          <p:nvPr/>
        </p:nvPicPr>
        <p:blipFill>
          <a:blip r:embed="rId3">
            <a:alphaModFix/>
          </a:blip>
          <a:stretch>
            <a:fillRect/>
          </a:stretch>
        </p:blipFill>
        <p:spPr>
          <a:xfrm>
            <a:off x="547275" y="771200"/>
            <a:ext cx="11128000" cy="6086801"/>
          </a:xfrm>
          <a:prstGeom prst="rect">
            <a:avLst/>
          </a:prstGeom>
          <a:noFill/>
          <a:ln>
            <a:noFill/>
          </a:ln>
        </p:spPr>
      </p:pic>
      <p:sp>
        <p:nvSpPr>
          <p:cNvPr id="134" name="Google Shape;134;g30693b6e602_0_11"/>
          <p:cNvSpPr txBox="1"/>
          <p:nvPr>
            <p:ph type="title"/>
          </p:nvPr>
        </p:nvSpPr>
        <p:spPr>
          <a:xfrm>
            <a:off x="1525672" y="247955"/>
            <a:ext cx="8846700" cy="660300"/>
          </a:xfrm>
          <a:prstGeom prst="rect">
            <a:avLst/>
          </a:prstGeom>
          <a:solidFill>
            <a:srgbClr val="FFFFFF"/>
          </a:solidFill>
          <a:ln cap="flat" cmpd="sng" w="19050">
            <a:solidFill>
              <a:schemeClr val="accent2"/>
            </a:solidFill>
            <a:prstDash val="solid"/>
            <a:round/>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TEMPERATURE CHANGE BY ZONES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g30693b6e602_0_17"/>
          <p:cNvPicPr preferRelativeResize="0"/>
          <p:nvPr/>
        </p:nvPicPr>
        <p:blipFill>
          <a:blip r:embed="rId3">
            <a:alphaModFix/>
          </a:blip>
          <a:stretch>
            <a:fillRect/>
          </a:stretch>
        </p:blipFill>
        <p:spPr>
          <a:xfrm>
            <a:off x="1695450" y="173550"/>
            <a:ext cx="8801100" cy="6510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sp>
        <p:nvSpPr>
          <p:cNvPr id="144" name="Google Shape;144;p7"/>
          <p:cNvSpPr/>
          <p:nvPr/>
        </p:nvSpPr>
        <p:spPr>
          <a:xfrm>
            <a:off x="-182880" y="-71120"/>
            <a:ext cx="12588240" cy="701040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5" name="Google Shape;145;p7"/>
          <p:cNvSpPr txBox="1"/>
          <p:nvPr>
            <p:ph type="title"/>
          </p:nvPr>
        </p:nvSpPr>
        <p:spPr>
          <a:xfrm>
            <a:off x="1953397" y="233680"/>
            <a:ext cx="8846683" cy="660400"/>
          </a:xfrm>
          <a:prstGeom prst="rect">
            <a:avLst/>
          </a:prstGeom>
          <a:solidFill>
            <a:srgbClr val="FFFFFF"/>
          </a:solidFill>
          <a:ln cap="flat" cmpd="sng" w="19050">
            <a:solidFill>
              <a:schemeClr val="accent2"/>
            </a:solidFill>
            <a:prstDash val="solid"/>
            <a:round/>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VISUALIZING TEMPERATURE TRENDS</a:t>
            </a:r>
            <a:endParaRPr/>
          </a:p>
        </p:txBody>
      </p:sp>
      <p:pic>
        <p:nvPicPr>
          <p:cNvPr id="146" name="Google Shape;146;p7"/>
          <p:cNvPicPr preferRelativeResize="0"/>
          <p:nvPr/>
        </p:nvPicPr>
        <p:blipFill rotWithShape="1">
          <a:blip r:embed="rId3">
            <a:alphaModFix/>
          </a:blip>
          <a:srcRect b="2755" l="0" r="0" t="0"/>
          <a:stretch/>
        </p:blipFill>
        <p:spPr>
          <a:xfrm>
            <a:off x="13483" y="1066801"/>
            <a:ext cx="12178517" cy="55168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8"/>
          <p:cNvSpPr txBox="1"/>
          <p:nvPr>
            <p:ph type="title"/>
          </p:nvPr>
        </p:nvSpPr>
        <p:spPr>
          <a:xfrm>
            <a:off x="457200" y="356412"/>
            <a:ext cx="5374640" cy="113464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p>
            <a:pPr indent="0" lvl="0" marL="0" rtl="0" algn="ctr">
              <a:lnSpc>
                <a:spcPct val="90000"/>
              </a:lnSpc>
              <a:spcBef>
                <a:spcPts val="0"/>
              </a:spcBef>
              <a:spcAft>
                <a:spcPts val="0"/>
              </a:spcAft>
              <a:buClr>
                <a:srgbClr val="262626"/>
              </a:buClr>
              <a:buSzPts val="2000"/>
              <a:buFont typeface="Gill Sans"/>
              <a:buNone/>
            </a:pPr>
            <a:r>
              <a:rPr lang="en-US" sz="2000"/>
              <a:t>VISUALIZING TEMPERATURE TRENDS: </a:t>
            </a:r>
            <a:r>
              <a:rPr lang="en-US" sz="2400"/>
              <a:t>HEATMAP</a:t>
            </a:r>
            <a:endParaRPr sz="2400"/>
          </a:p>
        </p:txBody>
      </p:sp>
      <p:pic>
        <p:nvPicPr>
          <p:cNvPr id="152" name="Google Shape;152;p8"/>
          <p:cNvPicPr preferRelativeResize="0"/>
          <p:nvPr>
            <p:ph idx="2" type="pic"/>
          </p:nvPr>
        </p:nvPicPr>
        <p:blipFill rotWithShape="1">
          <a:blip r:embed="rId3">
            <a:alphaModFix/>
          </a:blip>
          <a:srcRect b="3899" l="0" r="0" t="3900"/>
          <a:stretch/>
        </p:blipFill>
        <p:spPr>
          <a:xfrm>
            <a:off x="6089903" y="0"/>
            <a:ext cx="6102097" cy="6858000"/>
          </a:xfrm>
          <a:prstGeom prst="rect">
            <a:avLst/>
          </a:prstGeom>
          <a:solidFill>
            <a:srgbClr val="BFBFBF"/>
          </a:solidFill>
          <a:ln>
            <a:noFill/>
          </a:ln>
        </p:spPr>
      </p:pic>
      <p:pic>
        <p:nvPicPr>
          <p:cNvPr id="153" name="Google Shape;153;p8"/>
          <p:cNvPicPr preferRelativeResize="0"/>
          <p:nvPr/>
        </p:nvPicPr>
        <p:blipFill rotWithShape="1">
          <a:blip r:embed="rId4">
            <a:alphaModFix/>
          </a:blip>
          <a:srcRect b="0" l="0" r="0" t="0"/>
          <a:stretch/>
        </p:blipFill>
        <p:spPr>
          <a:xfrm>
            <a:off x="8863680" y="0"/>
            <a:ext cx="3328320" cy="486750"/>
          </a:xfrm>
          <a:prstGeom prst="rect">
            <a:avLst/>
          </a:prstGeom>
          <a:noFill/>
          <a:ln>
            <a:noFill/>
          </a:ln>
        </p:spPr>
      </p:pic>
      <p:sp>
        <p:nvSpPr>
          <p:cNvPr id="154" name="Google Shape;154;p8"/>
          <p:cNvSpPr/>
          <p:nvPr/>
        </p:nvSpPr>
        <p:spPr>
          <a:xfrm>
            <a:off x="368044" y="1737360"/>
            <a:ext cx="5463796" cy="478536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Temperature Range:</a:t>
            </a:r>
            <a:r>
              <a:rPr lang="en-US" sz="1800">
                <a:solidFill>
                  <a:schemeClr val="dk1"/>
                </a:solidFill>
                <a:latin typeface="Arial"/>
                <a:ea typeface="Arial"/>
                <a:cs typeface="Arial"/>
                <a:sym typeface="Arial"/>
              </a:rPr>
              <a:t> The map appears to depict average temperature changes ranging from approximately </a:t>
            </a:r>
            <a:r>
              <a:rPr lang="en-US" sz="1800" u="sng">
                <a:solidFill>
                  <a:schemeClr val="dk1"/>
                </a:solidFill>
                <a:latin typeface="Arial"/>
                <a:ea typeface="Arial"/>
                <a:cs typeface="Arial"/>
                <a:sym typeface="Arial"/>
              </a:rPr>
              <a:t>0.1°C</a:t>
            </a:r>
            <a:r>
              <a:rPr lang="en-US" sz="1800">
                <a:solidFill>
                  <a:schemeClr val="dk1"/>
                </a:solidFill>
                <a:latin typeface="Arial"/>
                <a:ea typeface="Arial"/>
                <a:cs typeface="Arial"/>
                <a:sym typeface="Arial"/>
              </a:rPr>
              <a:t> to </a:t>
            </a:r>
            <a:r>
              <a:rPr lang="en-US" sz="1800" u="sng">
                <a:solidFill>
                  <a:schemeClr val="dk1"/>
                </a:solidFill>
                <a:latin typeface="Arial"/>
                <a:ea typeface="Arial"/>
                <a:cs typeface="Arial"/>
                <a:sym typeface="Arial"/>
              </a:rPr>
              <a:t>0.9°C</a:t>
            </a: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Hottest Regions:</a:t>
            </a:r>
            <a:r>
              <a:rPr lang="en-US" sz="1800">
                <a:solidFill>
                  <a:schemeClr val="dk1"/>
                </a:solidFill>
                <a:latin typeface="Arial"/>
                <a:ea typeface="Arial"/>
                <a:cs typeface="Arial"/>
                <a:sym typeface="Arial"/>
              </a:rPr>
              <a:t> Areas in </a:t>
            </a:r>
            <a:r>
              <a:rPr b="1" lang="en-US" sz="1800" u="sng">
                <a:solidFill>
                  <a:schemeClr val="dk1"/>
                </a:solidFill>
                <a:latin typeface="Arial"/>
                <a:ea typeface="Arial"/>
                <a:cs typeface="Arial"/>
                <a:sym typeface="Arial"/>
              </a:rPr>
              <a:t>dark</a:t>
            </a:r>
            <a:r>
              <a:rPr b="1" lang="en-US" sz="1800">
                <a:solidFill>
                  <a:schemeClr val="dk1"/>
                </a:solidFill>
                <a:latin typeface="Arial"/>
                <a:ea typeface="Arial"/>
                <a:cs typeface="Arial"/>
                <a:sym typeface="Arial"/>
              </a:rPr>
              <a:t> </a:t>
            </a:r>
            <a:r>
              <a:rPr b="1" lang="en-US" sz="1800" u="sng">
                <a:solidFill>
                  <a:schemeClr val="dk1"/>
                </a:solidFill>
                <a:latin typeface="Arial"/>
                <a:ea typeface="Arial"/>
                <a:cs typeface="Arial"/>
                <a:sym typeface="Arial"/>
              </a:rPr>
              <a:t>red</a:t>
            </a:r>
            <a:r>
              <a:rPr lang="en-US" sz="1800">
                <a:solidFill>
                  <a:schemeClr val="dk1"/>
                </a:solidFill>
                <a:latin typeface="Arial"/>
                <a:ea typeface="Arial"/>
                <a:cs typeface="Arial"/>
                <a:sym typeface="Arial"/>
              </a:rPr>
              <a:t> likely experienced the most significant temperature increases, possibly between 0.8°C and 0.9°C.</a:t>
            </a:r>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Cooler Regions:</a:t>
            </a:r>
            <a:r>
              <a:rPr lang="en-US" sz="1800">
                <a:solidFill>
                  <a:schemeClr val="dk1"/>
                </a:solidFill>
                <a:latin typeface="Arial"/>
                <a:ea typeface="Arial"/>
                <a:cs typeface="Arial"/>
                <a:sym typeface="Arial"/>
              </a:rPr>
              <a:t> Regions in </a:t>
            </a:r>
            <a:r>
              <a:rPr b="1" lang="en-US" sz="1800" u="sng">
                <a:solidFill>
                  <a:schemeClr val="dk1"/>
                </a:solidFill>
                <a:latin typeface="Arial"/>
                <a:ea typeface="Arial"/>
                <a:cs typeface="Arial"/>
                <a:sym typeface="Arial"/>
              </a:rPr>
              <a:t>light yellow</a:t>
            </a:r>
            <a:r>
              <a:rPr lang="en-US" sz="1800">
                <a:solidFill>
                  <a:schemeClr val="dk1"/>
                </a:solidFill>
                <a:latin typeface="Arial"/>
                <a:ea typeface="Arial"/>
                <a:cs typeface="Arial"/>
                <a:sym typeface="Arial"/>
              </a:rPr>
              <a:t> or </a:t>
            </a:r>
            <a:r>
              <a:rPr b="1" lang="en-US" sz="1800" u="sng">
                <a:solidFill>
                  <a:schemeClr val="dk1"/>
                </a:solidFill>
                <a:latin typeface="Arial"/>
                <a:ea typeface="Arial"/>
                <a:cs typeface="Arial"/>
                <a:sym typeface="Arial"/>
              </a:rPr>
              <a:t>white</a:t>
            </a:r>
            <a:r>
              <a:rPr lang="en-US" sz="1800">
                <a:solidFill>
                  <a:schemeClr val="dk1"/>
                </a:solidFill>
                <a:latin typeface="Arial"/>
                <a:ea typeface="Arial"/>
                <a:cs typeface="Arial"/>
                <a:sym typeface="Arial"/>
              </a:rPr>
              <a:t> may have experienced minimal or no temperature changes, possibly around 0.1°C or below.</a:t>
            </a:r>
            <a:endParaRPr/>
          </a:p>
          <a:p>
            <a:pPr indent="0" lvl="0" marL="0" marR="0" rtl="0" algn="l">
              <a:spcBef>
                <a:spcPts val="0"/>
              </a:spcBef>
              <a:spcAft>
                <a:spcPts val="0"/>
              </a:spcAft>
              <a:buNone/>
            </a:pPr>
            <a:r>
              <a:rPr b="1" lang="en-US" sz="1800">
                <a:solidFill>
                  <a:schemeClr val="dk1"/>
                </a:solidFill>
                <a:latin typeface="Arial"/>
                <a:ea typeface="Arial"/>
                <a:cs typeface="Arial"/>
                <a:sym typeface="Arial"/>
              </a:rPr>
              <a:t>Regional Variations:</a:t>
            </a:r>
            <a:r>
              <a:rPr lang="en-US" sz="1800">
                <a:solidFill>
                  <a:schemeClr val="dk1"/>
                </a:solidFill>
                <a:latin typeface="Arial"/>
                <a:ea typeface="Arial"/>
                <a:cs typeface="Arial"/>
                <a:sym typeface="Arial"/>
              </a:rPr>
              <a:t> The map clearly shows distinct temperature gradients across the subcontinent. Some regions, particularly in the northern and central parts of India, appear to have experienced more substantial warming compared to others.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9"/>
          <p:cNvSpPr/>
          <p:nvPr/>
        </p:nvSpPr>
        <p:spPr>
          <a:xfrm>
            <a:off x="-182880" y="-71120"/>
            <a:ext cx="12588240" cy="7010400"/>
          </a:xfrm>
          <a:prstGeom prst="rect">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id="160" name="Google Shape;160;p9"/>
          <p:cNvPicPr preferRelativeResize="0"/>
          <p:nvPr/>
        </p:nvPicPr>
        <p:blipFill rotWithShape="1">
          <a:blip r:embed="rId3">
            <a:alphaModFix/>
          </a:blip>
          <a:srcRect b="1911" l="791" r="1092" t="0"/>
          <a:stretch/>
        </p:blipFill>
        <p:spPr>
          <a:xfrm>
            <a:off x="154611" y="284382"/>
            <a:ext cx="11913258" cy="6299396"/>
          </a:xfrm>
          <a:prstGeom prst="rect">
            <a:avLst/>
          </a:prstGeom>
          <a:noFill/>
          <a:ln cap="flat" cmpd="sng" w="9525">
            <a:solidFill>
              <a:schemeClr val="dk1"/>
            </a:solidFill>
            <a:prstDash val="solid"/>
            <a:round/>
            <a:headEnd len="sm" w="sm" type="none"/>
            <a:tailEnd len="sm" w="sm" type="none"/>
          </a:ln>
          <a:effectLst>
            <a:outerShdw blurRad="292100" rotWithShape="0" algn="tl" dir="2700000" dist="139700">
              <a:srgbClr val="333333">
                <a:alpha val="64705"/>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p:nvPr/>
        </p:nvSpPr>
        <p:spPr>
          <a:xfrm>
            <a:off x="-182880" y="-71120"/>
            <a:ext cx="12588240" cy="7010400"/>
          </a:xfrm>
          <a:prstGeom prst="rect">
            <a:avLst/>
          </a:prstGeom>
          <a:solidFill>
            <a:schemeClr val="accent2"/>
          </a:solidFill>
          <a:ln cap="flat" cmpd="sng" w="12700">
            <a:solidFill>
              <a:srgbClr val="717F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66" name="Google Shape;166;p10"/>
          <p:cNvSpPr txBox="1"/>
          <p:nvPr>
            <p:ph type="title"/>
          </p:nvPr>
        </p:nvSpPr>
        <p:spPr>
          <a:xfrm>
            <a:off x="868679" y="294132"/>
            <a:ext cx="10728960" cy="64058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SCATTERPLOT: SEASON-WISE TEMPERATURE CHANGE IN INDIA</a:t>
            </a:r>
            <a:endParaRPr/>
          </a:p>
        </p:txBody>
      </p:sp>
      <p:pic>
        <p:nvPicPr>
          <p:cNvPr id="167" name="Google Shape;167;p10"/>
          <p:cNvPicPr preferRelativeResize="0"/>
          <p:nvPr/>
        </p:nvPicPr>
        <p:blipFill rotWithShape="1">
          <a:blip r:embed="rId3">
            <a:alphaModFix/>
          </a:blip>
          <a:srcRect b="0" l="0" r="1406" t="3407"/>
          <a:stretch/>
        </p:blipFill>
        <p:spPr>
          <a:xfrm>
            <a:off x="1491490" y="1087120"/>
            <a:ext cx="9483339" cy="5502256"/>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1"/>
          <p:cNvSpPr/>
          <p:nvPr/>
        </p:nvSpPr>
        <p:spPr>
          <a:xfrm>
            <a:off x="-132080" y="0"/>
            <a:ext cx="12588240" cy="7010400"/>
          </a:xfrm>
          <a:prstGeom prst="rect">
            <a:avLst/>
          </a:prstGeom>
          <a:solidFill>
            <a:schemeClr val="accent2"/>
          </a:solidFill>
          <a:ln cap="flat" cmpd="sng" w="12700">
            <a:solidFill>
              <a:srgbClr val="717F8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3" name="Google Shape;173;p11"/>
          <p:cNvSpPr txBox="1"/>
          <p:nvPr>
            <p:ph type="title"/>
          </p:nvPr>
        </p:nvSpPr>
        <p:spPr>
          <a:xfrm>
            <a:off x="1772920" y="375412"/>
            <a:ext cx="8910320" cy="64058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Autofit/>
          </a:bodyPr>
          <a:lstStyle/>
          <a:p>
            <a:pPr indent="0" lvl="0" marL="0" rtl="0" algn="ctr">
              <a:lnSpc>
                <a:spcPct val="90000"/>
              </a:lnSpc>
              <a:spcBef>
                <a:spcPts val="0"/>
              </a:spcBef>
              <a:spcAft>
                <a:spcPts val="0"/>
              </a:spcAft>
              <a:buClr>
                <a:srgbClr val="262626"/>
              </a:buClr>
              <a:buSzPts val="2000"/>
              <a:buFont typeface="Gill Sans"/>
              <a:buNone/>
            </a:pPr>
            <a:r>
              <a:rPr lang="en-US" sz="2000"/>
              <a:t>LINE PLOT: TEMPERATURE CHANGE FROM 2000 TO 2020 WITH 5-YEAR MOVING AVERAGE</a:t>
            </a:r>
            <a:endParaRPr sz="2000"/>
          </a:p>
        </p:txBody>
      </p:sp>
      <p:pic>
        <p:nvPicPr>
          <p:cNvPr id="174" name="Google Shape;174;p11"/>
          <p:cNvPicPr preferRelativeResize="0"/>
          <p:nvPr/>
        </p:nvPicPr>
        <p:blipFill rotWithShape="1">
          <a:blip r:embed="rId3">
            <a:alphaModFix/>
          </a:blip>
          <a:srcRect b="0" l="0" r="0" t="0"/>
          <a:stretch/>
        </p:blipFill>
        <p:spPr>
          <a:xfrm>
            <a:off x="1046480" y="1135137"/>
            <a:ext cx="10363200" cy="561598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2"/>
          <p:cNvSpPr txBox="1"/>
          <p:nvPr>
            <p:ph type="title"/>
          </p:nvPr>
        </p:nvSpPr>
        <p:spPr>
          <a:xfrm>
            <a:off x="2844800" y="365252"/>
            <a:ext cx="6790944" cy="64058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LINEAR REGRESSION</a:t>
            </a:r>
            <a:endParaRPr/>
          </a:p>
        </p:txBody>
      </p:sp>
      <p:sp>
        <p:nvSpPr>
          <p:cNvPr id="180" name="Google Shape;180;p12"/>
          <p:cNvSpPr/>
          <p:nvPr/>
        </p:nvSpPr>
        <p:spPr>
          <a:xfrm>
            <a:off x="904240" y="5140960"/>
            <a:ext cx="10139680" cy="1016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Error metrics indicate that there are still some discrepancies between the forecasted and actual values, suggesting that other factors besides the linear trend may influence temperature changes.</a:t>
            </a:r>
            <a:endParaRPr sz="1800">
              <a:solidFill>
                <a:schemeClr val="dk1"/>
              </a:solidFill>
              <a:latin typeface="Arial"/>
              <a:ea typeface="Arial"/>
              <a:cs typeface="Arial"/>
              <a:sym typeface="Arial"/>
            </a:endParaRPr>
          </a:p>
        </p:txBody>
      </p:sp>
      <p:pic>
        <p:nvPicPr>
          <p:cNvPr id="181" name="Google Shape;181;p12"/>
          <p:cNvPicPr preferRelativeResize="0"/>
          <p:nvPr/>
        </p:nvPicPr>
        <p:blipFill rotWithShape="1">
          <a:blip r:embed="rId3">
            <a:alphaModFix/>
          </a:blip>
          <a:srcRect b="0" l="0" r="0" t="0"/>
          <a:stretch/>
        </p:blipFill>
        <p:spPr>
          <a:xfrm>
            <a:off x="2337245" y="1828800"/>
            <a:ext cx="7298499" cy="28041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ph type="title"/>
          </p:nvPr>
        </p:nvSpPr>
        <p:spPr>
          <a:xfrm>
            <a:off x="1285240" y="304800"/>
            <a:ext cx="9621520" cy="934212"/>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PLOTTING FORECASTED VALUE BY LINEAR REGRESSION</a:t>
            </a:r>
            <a:endParaRPr/>
          </a:p>
        </p:txBody>
      </p:sp>
      <p:pic>
        <p:nvPicPr>
          <p:cNvPr id="187" name="Google Shape;187;p13"/>
          <p:cNvPicPr preferRelativeResize="0"/>
          <p:nvPr/>
        </p:nvPicPr>
        <p:blipFill rotWithShape="1">
          <a:blip r:embed="rId3">
            <a:alphaModFix/>
          </a:blip>
          <a:srcRect b="0" l="0" r="0" t="0"/>
          <a:stretch/>
        </p:blipFill>
        <p:spPr>
          <a:xfrm>
            <a:off x="1443021" y="1411572"/>
            <a:ext cx="8747459" cy="521809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ph type="title"/>
          </p:nvPr>
        </p:nvSpPr>
        <p:spPr>
          <a:xfrm>
            <a:off x="2844800" y="365252"/>
            <a:ext cx="6790944" cy="640588"/>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ARIMA MODEL</a:t>
            </a:r>
            <a:endParaRPr/>
          </a:p>
        </p:txBody>
      </p:sp>
      <p:sp>
        <p:nvSpPr>
          <p:cNvPr id="193" name="Google Shape;193;p14"/>
          <p:cNvSpPr/>
          <p:nvPr/>
        </p:nvSpPr>
        <p:spPr>
          <a:xfrm>
            <a:off x="1607312" y="4620565"/>
            <a:ext cx="9265920" cy="1016000"/>
          </a:xfrm>
          <a:prstGeom prst="rect">
            <a:avLst/>
          </a:prstGeom>
          <a:solidFill>
            <a:schemeClr val="lt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Gill Sans"/>
                <a:ea typeface="Gill Sans"/>
                <a:cs typeface="Gill Sans"/>
                <a:sym typeface="Gill Sans"/>
              </a:rPr>
              <a:t>The error metrics (MAE, MSE, and RMSE) suggest that the model performed reasonably well, with a relatively low average error. </a:t>
            </a:r>
            <a:endParaRPr sz="1800">
              <a:solidFill>
                <a:schemeClr val="dk1"/>
              </a:solidFill>
              <a:latin typeface="Gill Sans"/>
              <a:ea typeface="Gill Sans"/>
              <a:cs typeface="Gill Sans"/>
              <a:sym typeface="Gill Sans"/>
            </a:endParaRPr>
          </a:p>
        </p:txBody>
      </p:sp>
      <p:pic>
        <p:nvPicPr>
          <p:cNvPr id="194" name="Google Shape;194;p14"/>
          <p:cNvPicPr preferRelativeResize="0"/>
          <p:nvPr/>
        </p:nvPicPr>
        <p:blipFill rotWithShape="1">
          <a:blip r:embed="rId3">
            <a:alphaModFix/>
          </a:blip>
          <a:srcRect b="0" l="0" r="0" t="0"/>
          <a:stretch/>
        </p:blipFill>
        <p:spPr>
          <a:xfrm>
            <a:off x="2418080" y="1450646"/>
            <a:ext cx="7422348" cy="272511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5"/>
          <p:cNvSpPr txBox="1"/>
          <p:nvPr>
            <p:ph type="title"/>
          </p:nvPr>
        </p:nvSpPr>
        <p:spPr>
          <a:xfrm>
            <a:off x="2529840" y="233680"/>
            <a:ext cx="7655052" cy="741172"/>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00000"/>
              <a:buFont typeface="Gill Sans"/>
              <a:buNone/>
            </a:pPr>
            <a:r>
              <a:rPr lang="en-US"/>
              <a:t>PLOTTING FORECASTED BY ARIMA MODEL</a:t>
            </a:r>
            <a:endParaRPr/>
          </a:p>
        </p:txBody>
      </p:sp>
      <p:pic>
        <p:nvPicPr>
          <p:cNvPr id="200" name="Google Shape;200;p15"/>
          <p:cNvPicPr preferRelativeResize="0"/>
          <p:nvPr/>
        </p:nvPicPr>
        <p:blipFill rotWithShape="1">
          <a:blip r:embed="rId3">
            <a:alphaModFix/>
          </a:blip>
          <a:srcRect b="921" l="423" r="957" t="1"/>
          <a:stretch/>
        </p:blipFill>
        <p:spPr>
          <a:xfrm>
            <a:off x="1351280" y="1157213"/>
            <a:ext cx="9357360" cy="556870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6"/>
          <p:cNvSpPr txBox="1"/>
          <p:nvPr>
            <p:ph type="title"/>
          </p:nvPr>
        </p:nvSpPr>
        <p:spPr>
          <a:xfrm>
            <a:off x="2231136" y="18237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HYPOTHESIS TESTING – Z TEST</a:t>
            </a:r>
            <a:endParaRPr/>
          </a:p>
        </p:txBody>
      </p:sp>
      <p:sp>
        <p:nvSpPr>
          <p:cNvPr id="206" name="Google Shape;206;p16"/>
          <p:cNvSpPr txBox="1"/>
          <p:nvPr>
            <p:ph idx="1" type="body"/>
          </p:nvPr>
        </p:nvSpPr>
        <p:spPr>
          <a:xfrm>
            <a:off x="873760" y="1717040"/>
            <a:ext cx="10363200" cy="46228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SzPts val="1800"/>
              <a:buChar char="•"/>
            </a:pPr>
            <a:r>
              <a:rPr lang="en-US"/>
              <a:t> Null = The mean temperature change for the last 20 years is equal to the overall historical mean temperature change.</a:t>
            </a:r>
            <a:endParaRPr/>
          </a:p>
          <a:p>
            <a:pPr indent="-228600" lvl="0" marL="228600" rtl="0" algn="l">
              <a:lnSpc>
                <a:spcPct val="100000"/>
              </a:lnSpc>
              <a:spcBef>
                <a:spcPts val="1000"/>
              </a:spcBef>
              <a:spcAft>
                <a:spcPts val="0"/>
              </a:spcAft>
              <a:buSzPts val="1800"/>
              <a:buChar char="•"/>
            </a:pPr>
            <a:r>
              <a:rPr lang="en-US"/>
              <a:t> Alternative = The mean temperature change for the last 20 years is not equal to the overall historical mean temperature change.</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228600" lvl="0" marL="228600" rtl="0" algn="l">
              <a:lnSpc>
                <a:spcPct val="100000"/>
              </a:lnSpc>
              <a:spcBef>
                <a:spcPts val="1000"/>
              </a:spcBef>
              <a:spcAft>
                <a:spcPts val="0"/>
              </a:spcAft>
              <a:buSzPts val="1800"/>
              <a:buChar char="•"/>
            </a:pPr>
            <a:r>
              <a:rPr lang="en-US"/>
              <a:t>Since P-Value is 0, and Z-Value is greater than 0, we reject the null hypothesis.</a:t>
            </a:r>
            <a:endParaRPr/>
          </a:p>
          <a:p>
            <a:pPr indent="-228600" lvl="0" marL="228600" rtl="0" algn="l">
              <a:lnSpc>
                <a:spcPct val="100000"/>
              </a:lnSpc>
              <a:spcBef>
                <a:spcPts val="1000"/>
              </a:spcBef>
              <a:spcAft>
                <a:spcPts val="0"/>
              </a:spcAft>
              <a:buSzPts val="1800"/>
              <a:buChar char="•"/>
            </a:pPr>
            <a:r>
              <a:rPr b="1" lang="en-US"/>
              <a:t>Conclusion:</a:t>
            </a:r>
            <a:endParaRPr/>
          </a:p>
          <a:p>
            <a:pPr indent="0" lvl="0" marL="0" rtl="0" algn="l">
              <a:lnSpc>
                <a:spcPct val="100000"/>
              </a:lnSpc>
              <a:spcBef>
                <a:spcPts val="1000"/>
              </a:spcBef>
              <a:spcAft>
                <a:spcPts val="0"/>
              </a:spcAft>
              <a:buSzPts val="1800"/>
              <a:buNone/>
            </a:pPr>
            <a:r>
              <a:rPr b="1" lang="en-US"/>
              <a:t>	</a:t>
            </a:r>
            <a:r>
              <a:rPr lang="en-US"/>
              <a:t>Alternative Hypothesis is accepted, The mean temperature change for the last 20 years is not equal to the overall historical mean temperature change.</a:t>
            </a:r>
            <a:endParaRPr/>
          </a:p>
          <a:p>
            <a:pPr indent="-114300" lvl="0" marL="228600" rtl="0" algn="l">
              <a:lnSpc>
                <a:spcPct val="100000"/>
              </a:lnSpc>
              <a:spcBef>
                <a:spcPts val="1000"/>
              </a:spcBef>
              <a:spcAft>
                <a:spcPts val="0"/>
              </a:spcAft>
              <a:buSzPts val="1800"/>
              <a:buNone/>
            </a:pPr>
            <a:r>
              <a:t/>
            </a:r>
            <a:endParaRPr/>
          </a:p>
        </p:txBody>
      </p:sp>
      <p:pic>
        <p:nvPicPr>
          <p:cNvPr id="207" name="Google Shape;207;p16"/>
          <p:cNvPicPr preferRelativeResize="0"/>
          <p:nvPr/>
        </p:nvPicPr>
        <p:blipFill rotWithShape="1">
          <a:blip r:embed="rId3">
            <a:alphaModFix/>
          </a:blip>
          <a:srcRect b="0" l="0" r="0" t="0"/>
          <a:stretch/>
        </p:blipFill>
        <p:spPr>
          <a:xfrm>
            <a:off x="2618889" y="3279905"/>
            <a:ext cx="6270077" cy="149706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7"/>
          <p:cNvSpPr txBox="1"/>
          <p:nvPr>
            <p:ph type="title"/>
          </p:nvPr>
        </p:nvSpPr>
        <p:spPr>
          <a:xfrm>
            <a:off x="2231136" y="18237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HYPOTHESIS TESTING – T TEST</a:t>
            </a:r>
            <a:endParaRPr/>
          </a:p>
        </p:txBody>
      </p:sp>
      <p:sp>
        <p:nvSpPr>
          <p:cNvPr id="213" name="Google Shape;213;p17"/>
          <p:cNvSpPr txBox="1"/>
          <p:nvPr>
            <p:ph idx="1" type="body"/>
          </p:nvPr>
        </p:nvSpPr>
        <p:spPr>
          <a:xfrm>
            <a:off x="873760" y="1717040"/>
            <a:ext cx="10363200" cy="462280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Char char="•"/>
            </a:pPr>
            <a:r>
              <a:rPr lang="en-US"/>
              <a:t> Null = There is a significant difference in mean temperature changes between the West and East zones. .</a:t>
            </a:r>
            <a:endParaRPr/>
          </a:p>
          <a:p>
            <a:pPr indent="-228600" lvl="0" marL="228600" rtl="0" algn="l">
              <a:lnSpc>
                <a:spcPct val="100000"/>
              </a:lnSpc>
              <a:spcBef>
                <a:spcPts val="1000"/>
              </a:spcBef>
              <a:spcAft>
                <a:spcPts val="0"/>
              </a:spcAft>
              <a:buSzPts val="1800"/>
              <a:buChar char="•"/>
            </a:pPr>
            <a:r>
              <a:rPr lang="en-US"/>
              <a:t> Alternative = There is a no significant difference in mean temperature changes between the West and East zones.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228600" lvl="0" marL="228600" rtl="0" algn="l">
              <a:lnSpc>
                <a:spcPct val="100000"/>
              </a:lnSpc>
              <a:spcBef>
                <a:spcPts val="1000"/>
              </a:spcBef>
              <a:spcAft>
                <a:spcPts val="0"/>
              </a:spcAft>
              <a:buSzPts val="1800"/>
              <a:buChar char="•"/>
            </a:pPr>
            <a:r>
              <a:rPr lang="en-US"/>
              <a:t>Since P-Value is 0, and Z-Value is greater than 0, we reject the null hypothesis.</a:t>
            </a:r>
            <a:endParaRPr/>
          </a:p>
          <a:p>
            <a:pPr indent="0" lvl="0" marL="0" rtl="0" algn="l">
              <a:lnSpc>
                <a:spcPct val="100000"/>
              </a:lnSpc>
              <a:spcBef>
                <a:spcPts val="1000"/>
              </a:spcBef>
              <a:spcAft>
                <a:spcPts val="0"/>
              </a:spcAft>
              <a:buSzPts val="1800"/>
              <a:buNone/>
            </a:pPr>
            <a:r>
              <a:rPr b="1" lang="en-US"/>
              <a:t>Conclusion:</a:t>
            </a:r>
            <a:endParaRPr/>
          </a:p>
          <a:p>
            <a:pPr indent="0" lvl="0" marL="0" rtl="0" algn="l">
              <a:lnSpc>
                <a:spcPct val="100000"/>
              </a:lnSpc>
              <a:spcBef>
                <a:spcPts val="1000"/>
              </a:spcBef>
              <a:spcAft>
                <a:spcPts val="0"/>
              </a:spcAft>
              <a:buSzPts val="1800"/>
              <a:buNone/>
            </a:pPr>
            <a:r>
              <a:rPr lang="en-US"/>
              <a:t>	Reject the null hypothesis: There is a significant difference in mean temperature changes between the West and East zones. The West zone has a higher mean temperature change than the East zone.</a:t>
            </a:r>
            <a:endParaRPr/>
          </a:p>
        </p:txBody>
      </p:sp>
      <p:pic>
        <p:nvPicPr>
          <p:cNvPr id="214" name="Google Shape;214;p17"/>
          <p:cNvPicPr preferRelativeResize="0"/>
          <p:nvPr/>
        </p:nvPicPr>
        <p:blipFill rotWithShape="1">
          <a:blip r:embed="rId3">
            <a:alphaModFix/>
          </a:blip>
          <a:srcRect b="59598" l="0" r="66552" t="0"/>
          <a:stretch/>
        </p:blipFill>
        <p:spPr>
          <a:xfrm>
            <a:off x="2406223" y="3140326"/>
            <a:ext cx="7062897" cy="86271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8"/>
          <p:cNvSpPr txBox="1"/>
          <p:nvPr>
            <p:ph type="title"/>
          </p:nvPr>
        </p:nvSpPr>
        <p:spPr>
          <a:xfrm>
            <a:off x="2231136" y="18237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HYPOTHESIS TESTING – T TEST</a:t>
            </a:r>
            <a:endParaRPr/>
          </a:p>
        </p:txBody>
      </p:sp>
      <p:sp>
        <p:nvSpPr>
          <p:cNvPr id="220" name="Google Shape;220;p18"/>
          <p:cNvSpPr txBox="1"/>
          <p:nvPr>
            <p:ph idx="1" type="body"/>
          </p:nvPr>
        </p:nvSpPr>
        <p:spPr>
          <a:xfrm>
            <a:off x="873760" y="1717040"/>
            <a:ext cx="10363200" cy="4622800"/>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SzPts val="1800"/>
              <a:buChar char="•"/>
            </a:pPr>
            <a:r>
              <a:rPr lang="en-US"/>
              <a:t> Null = There is a significant difference in mean temperature changes between the North and North - East zones. .</a:t>
            </a:r>
            <a:endParaRPr/>
          </a:p>
          <a:p>
            <a:pPr indent="-228600" lvl="0" marL="228600" rtl="0" algn="l">
              <a:lnSpc>
                <a:spcPct val="100000"/>
              </a:lnSpc>
              <a:spcBef>
                <a:spcPts val="1000"/>
              </a:spcBef>
              <a:spcAft>
                <a:spcPts val="0"/>
              </a:spcAft>
              <a:buSzPts val="1800"/>
              <a:buChar char="•"/>
            </a:pPr>
            <a:r>
              <a:rPr lang="en-US"/>
              <a:t> Alternative = There is a no significant difference in mean temperature changes between the North and North -East zones.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228600" lvl="0" marL="228600" rtl="0" algn="l">
              <a:lnSpc>
                <a:spcPct val="100000"/>
              </a:lnSpc>
              <a:spcBef>
                <a:spcPts val="1000"/>
              </a:spcBef>
              <a:spcAft>
                <a:spcPts val="0"/>
              </a:spcAft>
              <a:buSzPts val="1800"/>
              <a:buChar char="•"/>
            </a:pPr>
            <a:r>
              <a:rPr lang="en-US"/>
              <a:t>Since P-Value is 0, and Z-Value is greater than 0, we reject the null hypothesis.</a:t>
            </a:r>
            <a:endParaRPr/>
          </a:p>
          <a:p>
            <a:pPr indent="0" lvl="0" marL="0" rtl="0" algn="l">
              <a:lnSpc>
                <a:spcPct val="100000"/>
              </a:lnSpc>
              <a:spcBef>
                <a:spcPts val="1000"/>
              </a:spcBef>
              <a:spcAft>
                <a:spcPts val="0"/>
              </a:spcAft>
              <a:buSzPts val="1800"/>
              <a:buNone/>
            </a:pPr>
            <a:r>
              <a:rPr b="1" lang="en-US"/>
              <a:t>Conclusion:</a:t>
            </a:r>
            <a:endParaRPr/>
          </a:p>
          <a:p>
            <a:pPr indent="0" lvl="0" marL="0" rtl="0" algn="l">
              <a:lnSpc>
                <a:spcPct val="100000"/>
              </a:lnSpc>
              <a:spcBef>
                <a:spcPts val="1000"/>
              </a:spcBef>
              <a:spcAft>
                <a:spcPts val="0"/>
              </a:spcAft>
              <a:buSzPts val="1800"/>
              <a:buNone/>
            </a:pPr>
            <a:r>
              <a:rPr lang="en-US"/>
              <a:t>	Reject the null hypothesis: There is a significant difference in mean temperature changes between the West and East zones. The North zone has a higher mean temperature change than the North-East zone.</a:t>
            </a:r>
            <a:endParaRPr/>
          </a:p>
        </p:txBody>
      </p:sp>
      <p:pic>
        <p:nvPicPr>
          <p:cNvPr id="221" name="Google Shape;221;p18"/>
          <p:cNvPicPr preferRelativeResize="0"/>
          <p:nvPr/>
        </p:nvPicPr>
        <p:blipFill rotWithShape="1">
          <a:blip r:embed="rId3">
            <a:alphaModFix/>
          </a:blip>
          <a:srcRect b="13247" l="0" r="0" t="0"/>
          <a:stretch/>
        </p:blipFill>
        <p:spPr>
          <a:xfrm>
            <a:off x="1727413" y="3331180"/>
            <a:ext cx="8927514" cy="864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txBox="1"/>
          <p:nvPr>
            <p:ph type="title"/>
          </p:nvPr>
        </p:nvSpPr>
        <p:spPr>
          <a:xfrm>
            <a:off x="2231136" y="182372"/>
            <a:ext cx="7729728" cy="118872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ctr" bIns="182875" lIns="182875" spcFirstLastPara="1" rIns="182875" wrap="square" tIns="182875">
            <a:normAutofit/>
          </a:bodyPr>
          <a:lstStyle/>
          <a:p>
            <a:pPr indent="0" lvl="0" marL="0" rtl="0" algn="ctr">
              <a:lnSpc>
                <a:spcPct val="90000"/>
              </a:lnSpc>
              <a:spcBef>
                <a:spcPts val="0"/>
              </a:spcBef>
              <a:spcAft>
                <a:spcPts val="0"/>
              </a:spcAft>
              <a:buClr>
                <a:srgbClr val="262626"/>
              </a:buClr>
              <a:buSzPts val="2800"/>
              <a:buFont typeface="Gill Sans"/>
              <a:buNone/>
            </a:pPr>
            <a:r>
              <a:rPr lang="en-US"/>
              <a:t>HYPOTHESIS TESTING – ANOVA</a:t>
            </a:r>
            <a:endParaRPr/>
          </a:p>
        </p:txBody>
      </p:sp>
      <p:sp>
        <p:nvSpPr>
          <p:cNvPr id="227" name="Google Shape;227;p19"/>
          <p:cNvSpPr txBox="1"/>
          <p:nvPr>
            <p:ph idx="1" type="body"/>
          </p:nvPr>
        </p:nvSpPr>
        <p:spPr>
          <a:xfrm>
            <a:off x="873760" y="1717040"/>
            <a:ext cx="10363200" cy="46228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SzPts val="1800"/>
              <a:buChar char="•"/>
            </a:pPr>
            <a:r>
              <a:rPr lang="en-US"/>
              <a:t> Null = There is no significant difference in mean temperature changes among the seasons.</a:t>
            </a:r>
            <a:endParaRPr/>
          </a:p>
          <a:p>
            <a:pPr indent="-228600" lvl="0" marL="228600" rtl="0" algn="l">
              <a:lnSpc>
                <a:spcPct val="100000"/>
              </a:lnSpc>
              <a:spcBef>
                <a:spcPts val="1000"/>
              </a:spcBef>
              <a:spcAft>
                <a:spcPts val="0"/>
              </a:spcAft>
              <a:buSzPts val="1800"/>
              <a:buChar char="•"/>
            </a:pPr>
            <a:r>
              <a:rPr lang="en-US"/>
              <a:t> Alternative = There is a significant difference in mean temperature changes among the seasons.</a:t>
            </a:r>
            <a:endParaRPr/>
          </a:p>
          <a:p>
            <a:pPr indent="0" lvl="0" marL="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114300" lvl="0" marL="228600" rtl="0" algn="l">
              <a:lnSpc>
                <a:spcPct val="100000"/>
              </a:lnSpc>
              <a:spcBef>
                <a:spcPts val="1000"/>
              </a:spcBef>
              <a:spcAft>
                <a:spcPts val="0"/>
              </a:spcAft>
              <a:buSzPts val="1800"/>
              <a:buNone/>
            </a:pPr>
            <a:r>
              <a:t/>
            </a:r>
            <a:endParaRPr/>
          </a:p>
          <a:p>
            <a:pPr indent="-228600" lvl="0" marL="228600" rtl="0" algn="l">
              <a:lnSpc>
                <a:spcPct val="100000"/>
              </a:lnSpc>
              <a:spcBef>
                <a:spcPts val="1000"/>
              </a:spcBef>
              <a:spcAft>
                <a:spcPts val="0"/>
              </a:spcAft>
              <a:buSzPts val="1800"/>
              <a:buChar char="•"/>
            </a:pPr>
            <a:r>
              <a:rPr lang="en-US"/>
              <a:t>Since P-Value is 0, and Z-Value is greater than 0, we reject the null hypothesis.</a:t>
            </a:r>
            <a:endParaRPr/>
          </a:p>
          <a:p>
            <a:pPr indent="0" lvl="0" marL="0" rtl="0" algn="l">
              <a:lnSpc>
                <a:spcPct val="100000"/>
              </a:lnSpc>
              <a:spcBef>
                <a:spcPts val="1000"/>
              </a:spcBef>
              <a:spcAft>
                <a:spcPts val="0"/>
              </a:spcAft>
              <a:buSzPts val="1800"/>
              <a:buNone/>
            </a:pPr>
            <a:r>
              <a:rPr b="1" lang="en-US"/>
              <a:t>Conclusion:</a:t>
            </a:r>
            <a:endParaRPr/>
          </a:p>
          <a:p>
            <a:pPr indent="0" lvl="0" marL="0" rtl="0" algn="l">
              <a:lnSpc>
                <a:spcPct val="100000"/>
              </a:lnSpc>
              <a:spcBef>
                <a:spcPts val="1000"/>
              </a:spcBef>
              <a:spcAft>
                <a:spcPts val="0"/>
              </a:spcAft>
              <a:buSzPts val="1800"/>
              <a:buNone/>
            </a:pPr>
            <a:r>
              <a:rPr lang="en-US"/>
              <a:t>Sum of Squares (Period): 15.34 This indicates the variability in temperature changes explained by the different periods (seasons). </a:t>
            </a:r>
            <a:endParaRPr/>
          </a:p>
          <a:p>
            <a:pPr indent="0" lvl="0" marL="0" rtl="0" algn="l">
              <a:lnSpc>
                <a:spcPct val="100000"/>
              </a:lnSpc>
              <a:spcBef>
                <a:spcPts val="1000"/>
              </a:spcBef>
              <a:spcAft>
                <a:spcPts val="0"/>
              </a:spcAft>
              <a:buSzPts val="1800"/>
              <a:buNone/>
            </a:pPr>
            <a:r>
              <a:rPr lang="en-US"/>
              <a:t>Degrees of Freedom (df): 3.0 This represents the number of groups minus one (number of seasons - 1)</a:t>
            </a:r>
            <a:endParaRPr/>
          </a:p>
          <a:p>
            <a:pPr indent="0" lvl="0" marL="0" rtl="0" algn="l">
              <a:lnSpc>
                <a:spcPct val="100000"/>
              </a:lnSpc>
              <a:spcBef>
                <a:spcPts val="1000"/>
              </a:spcBef>
              <a:spcAft>
                <a:spcPts val="0"/>
              </a:spcAft>
              <a:buSzPts val="1800"/>
              <a:buNone/>
            </a:pPr>
            <a:r>
              <a:rPr lang="en-US"/>
              <a:t>F-statistic: 13.64. A higher F-statistic indicates a significant difference between the means of the groups. </a:t>
            </a:r>
            <a:endParaRPr/>
          </a:p>
          <a:p>
            <a:pPr indent="0" lvl="0" marL="0" rtl="0" algn="l">
              <a:lnSpc>
                <a:spcPct val="100000"/>
              </a:lnSpc>
              <a:spcBef>
                <a:spcPts val="1000"/>
              </a:spcBef>
              <a:spcAft>
                <a:spcPts val="0"/>
              </a:spcAft>
              <a:buSzPts val="1800"/>
              <a:buNone/>
            </a:pPr>
            <a:r>
              <a:rPr lang="en-US"/>
              <a:t>P-value (PR(&gt;F)): 6.97e-09 . This p-value is extremely low, suggesting strong evidence against the null hypothesis</a:t>
            </a:r>
            <a:endParaRPr/>
          </a:p>
        </p:txBody>
      </p:sp>
      <p:pic>
        <p:nvPicPr>
          <p:cNvPr id="228" name="Google Shape;228;p19"/>
          <p:cNvPicPr preferRelativeResize="0"/>
          <p:nvPr/>
        </p:nvPicPr>
        <p:blipFill rotWithShape="1">
          <a:blip r:embed="rId3">
            <a:alphaModFix/>
          </a:blip>
          <a:srcRect b="0" l="0" r="0" t="0"/>
          <a:stretch/>
        </p:blipFill>
        <p:spPr>
          <a:xfrm>
            <a:off x="2097366" y="2543770"/>
            <a:ext cx="7753428" cy="99191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0693b6e602_0_0"/>
          <p:cNvSpPr txBox="1"/>
          <p:nvPr>
            <p:ph type="title"/>
          </p:nvPr>
        </p:nvSpPr>
        <p:spPr>
          <a:xfrm>
            <a:off x="2231136" y="964692"/>
            <a:ext cx="7729800" cy="1188600"/>
          </a:xfrm>
          <a:prstGeom prst="rect">
            <a:avLst/>
          </a:prstGeom>
        </p:spPr>
        <p:txBody>
          <a:bodyPr anchorCtr="0" anchor="ctr" bIns="182875" lIns="182875" spcFirstLastPara="1" rIns="182875" wrap="square" tIns="182875">
            <a:normAutofit/>
          </a:bodyPr>
          <a:lstStyle/>
          <a:p>
            <a:pPr indent="0" lvl="0" marL="0" rtl="0" algn="ctr">
              <a:spcBef>
                <a:spcPts val="0"/>
              </a:spcBef>
              <a:spcAft>
                <a:spcPts val="0"/>
              </a:spcAft>
              <a:buNone/>
            </a:pPr>
            <a:r>
              <a:rPr lang="en-US"/>
              <a:t>CONCLUSIONS AND INSIGHTS</a:t>
            </a:r>
            <a:endParaRPr/>
          </a:p>
        </p:txBody>
      </p:sp>
      <p:sp>
        <p:nvSpPr>
          <p:cNvPr id="234" name="Google Shape;234;g30693b6e602_0_0"/>
          <p:cNvSpPr txBox="1"/>
          <p:nvPr>
            <p:ph idx="1" type="body"/>
          </p:nvPr>
        </p:nvSpPr>
        <p:spPr>
          <a:xfrm>
            <a:off x="2231136" y="2638044"/>
            <a:ext cx="7729800" cy="3102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Our analysis of Indian temperature data from 1901 to 2020 shows a clear rise, especially in the last two decades, reflecting global climate change trends. </a:t>
            </a:r>
            <a:endParaRPr/>
          </a:p>
          <a:p>
            <a:pPr indent="0" lvl="0" marL="0" rtl="0" algn="l">
              <a:spcBef>
                <a:spcPts val="1000"/>
              </a:spcBef>
              <a:spcAft>
                <a:spcPts val="0"/>
              </a:spcAft>
              <a:buNone/>
            </a:pPr>
            <a:r>
              <a:rPr lang="en-US"/>
              <a:t>Statistical tests confirm significant temperature changes over time. </a:t>
            </a:r>
            <a:endParaRPr/>
          </a:p>
          <a:p>
            <a:pPr indent="0" lvl="0" marL="0" rtl="0" algn="l">
              <a:spcBef>
                <a:spcPts val="1000"/>
              </a:spcBef>
              <a:spcAft>
                <a:spcPts val="0"/>
              </a:spcAft>
              <a:buNone/>
            </a:pPr>
            <a:r>
              <a:rPr lang="en-US"/>
              <a:t>Also certain regions are experiencing more rapid temperature changes than others, indicating uneven impacts across the country</a:t>
            </a:r>
            <a:endParaRPr/>
          </a:p>
          <a:p>
            <a:pPr indent="0" lvl="0" marL="0" rtl="0" algn="l">
              <a:spcBef>
                <a:spcPts val="1000"/>
              </a:spcBef>
              <a:spcAft>
                <a:spcPts val="0"/>
              </a:spcAft>
              <a:buNone/>
            </a:pPr>
            <a:r>
              <a:rPr lang="en-US"/>
              <a:t>Additionally, the ARIMA model predicts that temperatures will continue to rise in the coming years. </a:t>
            </a:r>
            <a:endParaRPr/>
          </a:p>
          <a:p>
            <a:pPr indent="0" lvl="0" marL="0" rtl="0" algn="l">
              <a:spcBef>
                <a:spcPts val="1000"/>
              </a:spcBef>
              <a:spcAft>
                <a:spcPts val="0"/>
              </a:spcAft>
              <a:buNone/>
            </a:pPr>
            <a:r>
              <a:rPr lang="en-US"/>
              <a:t>These findings highlight the need for India to adopt sustainable measures to tackle the challenges of increasing temperatures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0676e17665_0_0"/>
          <p:cNvSpPr txBox="1"/>
          <p:nvPr>
            <p:ph type="title"/>
          </p:nvPr>
        </p:nvSpPr>
        <p:spPr>
          <a:xfrm>
            <a:off x="2231136" y="964692"/>
            <a:ext cx="7729800" cy="1188600"/>
          </a:xfrm>
          <a:prstGeom prst="rect">
            <a:avLst/>
          </a:prstGeom>
        </p:spPr>
        <p:txBody>
          <a:bodyPr anchorCtr="0" anchor="ctr" bIns="182875" lIns="182875" spcFirstLastPara="1" rIns="182875" wrap="square" tIns="182875">
            <a:normAutofit/>
          </a:bodyPr>
          <a:lstStyle/>
          <a:p>
            <a:pPr indent="0" lvl="0" marL="0" rtl="0" algn="ctr">
              <a:spcBef>
                <a:spcPts val="0"/>
              </a:spcBef>
              <a:spcAft>
                <a:spcPts val="0"/>
              </a:spcAft>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2024-09-27T16:59:37Z</dcterms:created>
  <dc:creator>Musab Shaikh</dc:creator>
</cp:coreProperties>
</file>